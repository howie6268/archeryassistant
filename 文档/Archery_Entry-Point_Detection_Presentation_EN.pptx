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9" d="100"/>
          <a:sy n="139" d="100"/>
        </p:scale>
        <p:origin x="72"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bar"/>
        <c:grouping val="clustered"/>
        <c:varyColors val="0"/>
        <c:ser>
          <c:idx val="0"/>
          <c:order val="0"/>
          <c:tx>
            <c:strRef>
              <c:f>Sheet1!$B$1</c:f>
              <c:strCache>
                <c:ptCount val="1"/>
                <c:pt idx="0">
                  <c:v>Count</c:v>
                </c:pt>
              </c:strCache>
            </c:strRef>
          </c:tx>
          <c:spPr>
            <a:solidFill>
              <a:srgbClr val="1F6FB2"/>
            </a:solidFill>
            <a:effectLst/>
          </c:spPr>
          <c:invertIfNegative val="0"/>
          <c:dLbls>
            <c:numFmt formatCode="#,##0" sourceLinked="0"/>
            <c:spPr>
              <a:noFill/>
              <a:ln>
                <a:noFill/>
              </a:ln>
              <a:effectLst/>
            </c:spPr>
            <c:txPr>
              <a:bodyPr/>
              <a:lstStyle/>
              <a:p>
                <a:pPr>
                  <a:defRPr sz="1100" b="0" i="0" u="none" strike="noStrike">
                    <a:solidFill>
                      <a:srgbClr val="1F2933"/>
                    </a:solidFill>
                    <a:latin typeface="Arial"/>
                  </a:defRPr>
                </a:pPr>
                <a:endParaRPr lang="en-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Kept as-is</c:v>
                </c:pt>
                <c:pt idx="1">
                  <c:v>Corrected</c:v>
                </c:pt>
                <c:pt idx="2">
                  <c:v>Changed to unknown</c:v>
                </c:pt>
                <c:pt idx="3">
                  <c:v>Excluded</c:v>
                </c:pt>
                <c:pt idx="4">
                  <c:v>Not counted separately</c:v>
                </c:pt>
              </c:strCache>
            </c:strRef>
          </c:cat>
          <c:val>
            <c:numRef>
              <c:f>Sheet1!$B$2:$B$6</c:f>
              <c:numCache>
                <c:formatCode>General</c:formatCode>
                <c:ptCount val="5"/>
                <c:pt idx="0">
                  <c:v>348</c:v>
                </c:pt>
                <c:pt idx="1">
                  <c:v>22</c:v>
                </c:pt>
                <c:pt idx="2">
                  <c:v>27</c:v>
                </c:pt>
                <c:pt idx="3">
                  <c:v>20</c:v>
                </c:pt>
                <c:pt idx="4">
                  <c:v>1</c:v>
                </c:pt>
              </c:numCache>
            </c:numRef>
          </c:val>
          <c:extLst>
            <c:ext xmlns:c16="http://schemas.microsoft.com/office/drawing/2014/chart" uri="{C3380CC4-5D6E-409C-BE32-E72D297353CC}">
              <c16:uniqueId val="{00000000-1F6C-E641-9233-6DC8AE61AF5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Microsoft YaHe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YOLO-NAS (original)</c:v>
                </c:pt>
              </c:strCache>
            </c:strRef>
          </c:tx>
          <c:spPr>
            <a:solidFill>
              <a:srgbClr val="1F6FB2"/>
            </a:solidFill>
            <a:effectLst/>
          </c:spPr>
          <c:invertIfNegative val="0"/>
          <c:dLbls>
            <c:numFmt formatCode="#,##0" sourceLinked="0"/>
            <c:spPr>
              <a:noFill/>
              <a:ln>
                <a:noFill/>
              </a:ln>
              <a:effectLst/>
            </c:spPr>
            <c:txPr>
              <a:bodyPr/>
              <a:lstStyle/>
              <a:p>
                <a:pPr>
                  <a:defRPr sz="1100" b="0" i="0" u="none" strike="noStrike">
                    <a:solidFill>
                      <a:srgbClr val="1F2933"/>
                    </a:solidFill>
                    <a:latin typeface="Arial"/>
                  </a:defRPr>
                </a:pPr>
                <a:endParaRPr lang="en-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Missed reference points</c:v>
                </c:pt>
                <c:pt idx="1">
                  <c:v>Unmatched candidates</c:v>
                </c:pt>
              </c:strCache>
            </c:strRef>
          </c:cat>
          <c:val>
            <c:numRef>
              <c:f>Sheet1!$B$2:$B$3</c:f>
              <c:numCache>
                <c:formatCode>General</c:formatCode>
                <c:ptCount val="2"/>
                <c:pt idx="0">
                  <c:v>17</c:v>
                </c:pt>
                <c:pt idx="1">
                  <c:v>87</c:v>
                </c:pt>
              </c:numCache>
            </c:numRef>
          </c:val>
          <c:extLst>
            <c:ext xmlns:c16="http://schemas.microsoft.com/office/drawing/2014/chart" uri="{C3380CC4-5D6E-409C-BE32-E72D297353CC}">
              <c16:uniqueId val="{00000000-5234-1440-92BD-10B664031360}"/>
            </c:ext>
          </c:extLst>
        </c:ser>
        <c:ser>
          <c:idx val="1"/>
          <c:order val="1"/>
          <c:tx>
            <c:strRef>
              <c:f>Sheet1!$C$1</c:f>
              <c:strCache>
                <c:ptCount val="1"/>
                <c:pt idx="0">
                  <c:v>Heatmap + verifier</c:v>
                </c:pt>
              </c:strCache>
            </c:strRef>
          </c:tx>
          <c:spPr>
            <a:solidFill>
              <a:srgbClr val="F2B705"/>
            </a:solidFill>
            <a:effectLst/>
          </c:spPr>
          <c:invertIfNegative val="0"/>
          <c:dLbls>
            <c:numFmt formatCode="#,##0" sourceLinked="0"/>
            <c:spPr>
              <a:noFill/>
              <a:ln>
                <a:noFill/>
              </a:ln>
              <a:effectLst/>
            </c:spPr>
            <c:txPr>
              <a:bodyPr/>
              <a:lstStyle/>
              <a:p>
                <a:pPr>
                  <a:defRPr sz="1100" b="0" i="0" u="none" strike="noStrike">
                    <a:solidFill>
                      <a:srgbClr val="1F2933"/>
                    </a:solidFill>
                    <a:latin typeface="Arial"/>
                  </a:defRPr>
                </a:pPr>
                <a:endParaRPr lang="en-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Missed reference points</c:v>
                </c:pt>
                <c:pt idx="1">
                  <c:v>Unmatched candidates</c:v>
                </c:pt>
              </c:strCache>
            </c:strRef>
          </c:cat>
          <c:val>
            <c:numRef>
              <c:f>Sheet1!$C$2:$C$3</c:f>
              <c:numCache>
                <c:formatCode>General</c:formatCode>
                <c:ptCount val="2"/>
                <c:pt idx="0">
                  <c:v>18</c:v>
                </c:pt>
                <c:pt idx="1">
                  <c:v>784</c:v>
                </c:pt>
              </c:numCache>
            </c:numRef>
          </c:val>
          <c:extLst>
            <c:ext xmlns:c16="http://schemas.microsoft.com/office/drawing/2014/chart" uri="{C3380CC4-5D6E-409C-BE32-E72D297353CC}">
              <c16:uniqueId val="{00000001-5234-1440-92BD-10B6640313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icrosoft YaHe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latin typeface="Microsoft YaHei"/>
              <a:cs typeface="Microsoft YaHe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7448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teachers. My project is "Neural Network-Based Entry-Point Detection and Automatic Scoring for Archery". In short, the goal is to let a computer look at a photo of an archery target, find where each arrow entered the target face, and compute the score automatically. In about ten minutes I will present how I did it, the results, and the remaining limitations.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practice archery regularly. My training software only allows entering scores manually, or clicking arrow positions one by one on a virtual target, which is cumbersome. So I wondered: could I take one photo of the target face and let the computer find every arrow and compute the score? That is the starting point of this project. The photo on the right is a real training photo: many arrows, tilted angles, and neighboring targets — all of which make recognition harder.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using AI tools, I manually annotated a batch of photos and trained a YOLOX whole-arrow detection model. It can box each arrow, but the box center often falls in the middle of the shaft, while the score is determined by where the arrow enters the target face. The software had to infer the entry-point with a fixed offset; on 144 photos, only 16 of 1018 reference points matched within 8 pixels. Note that this mainly reflects a flaw of the offset rule, not that the detection boxes failed to find the arrows. So I changed the task to: locate the entry-point directly.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revolves around three questions: how to annotate reliably; how to train the model and evaluate it on unseen photos; and how to convert entry-points into scores. The roadmap has four steps: build the data, train my own heatmap model, introduce an off-the-shelf YOLO-NAS model as a baseline, and finally implement automatic scoring. The labels at the top right indicate which step we are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supervised learning, photos are the questions and annotations are the answers. While organizing my annotations, I found that 205 image files contained only 172 distinct photos; some were duplicates. Some photos with arrows were incompletely labeled; if treated as empty targets, the model would learn wrong answers. The example on the right: two annotations of the same black arrow differ by about 38 pixels; after zooming into the original image I adopted B554. Another time, two labels were actually the same arrow and had to be merged. If the answer is wrong, the model will very diligently learn the wrong thing.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Annotating from scratch is time-consuming, so I had a vision-capable large model review my old annotations and propose candidates for incompletely labeled photos; disagreements were judged by me against the original images. Taking 418 manual labels on 61 photos as an example: 348 kept unchanged, 22 corrected, 27 changed to unknown due to occlusion, 20 removed, and 28 missed arrows additionally annotated. I set four principles, the most important being: unknown does not mean no arrow, and AI review does not equal human confirmation. The result is training data of 116 photos and 829 reference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trained a relatively small model: the feature network of YOLOX Nano extracts image features, followed by a heatmap head — about 0.83M parameters in total. The heatmap can be understood as scoring every location in the photo: the more likely a location is an entry-point, the higher the score; the red regions in the right image are high-score areas. Ideally, each arrow forms a separate peak at its entry-point, which is then mapped back to photo coordinates.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I only watched whether the loss decreased. The left chart shows the loss curve — it fell extremely low, but on the 12 training photos the model matched only 28 of 82 points, and large areas of the heatmap were red. The reason: I only told the model where entry-points are, not where they are not, so predicting entry-points everywhere also reduced the loss. After adding confirmed arrow-free background, matching improved to 75/82. But it still reported 1107 candidates and matched only 21/49 on 8 unseen photos, so generalization needed attention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 learned to look at two metrics together. Recall is how many reference points were recovered; Precision is how many reported points are correct. For example, with 10 entry-points, the model reports 12 and matches 8: Recall 80%, Precision about 66.7%. Viewed this way, data augmentation — adding rotation, scaling, and brightness changes on 48 training photos — raised Recall from 69.3% to 85.0%, but candidates also rose from 263 to 622. More recovered, but also more reported: reporting more is not the same as being more accurate.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reduce redundant candidates, I kept the heatmap model unchanged and trained a small verifier that re-examines the local patch around each candidate and decides keep or discard. On 20 development photos, the matched count stayed at 127/140 while candidates dropped from 1087 to 721. But note: a verifier can only filter candidates; it cannot recover missed points or move coordinates. Redundant candidates remained numerous, so I looked for another model as a baseline.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must be honest here: YOLO-NAS was not trained by me from scratch. It is a pretrained model bundled in the installer of the archery app; its training data and process are unknown. What I did was rebuild it into a network that runs and trains in PyTorch, verified on 144 photos to output identical results. Also, NAS stands for Neural Architecture Search, a method developers use to design networks; I did not perform architecture search. The table on the right compares the two approaches; the biggest difference is that the heatmap model is trained by me, while YOLO-NAS is off-the-shelf.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the original YOLO-NAS with "heatmap + verifier" on the same 28 development photos. The missed reference points were similar, 17 vs 18; but YOLO-NAS had far fewer redundant candidates, 87 vs 784, and a smaller mean localization error. Yet it is not better on every photo: on the right, a photo with very dense arrows, YOLO-NAS matched only 2 arrows while the heatmap approach matched all 8. Interpretation also needs caution: of 30 suspected false detections I re-checked, 22 were actually unlabeled true arrows; and the two approaches differ in architecture, training data, and post-processing, so the gap cannot be attributed to architecture alone.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asked whether fine-tuning YOLO-NAS with my own confirmed entry-points could improve it further. The first round used only 9 photos and 11 human-confirmed points; results barely changed. Before the second round, I manually confirmed 60 hard cases; after fine-tuning, 4 more points were recovered, but redundant candidates increased by 25. During training I also added a "teacher" constraint: regions without manual labels should stay close to the original model’s output, similar in spirit to knowledge distillation. Neither round clearly outperformed the original, so the software ultimately uses the original YOLO-NAS. This negative result shows that further improvement requires more and more complete annotations.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finding the entry-points, they must be converted into scores. The model’s score only indicates how likely a point is an entry-point and is unrelated to the ring value; the score depends on the geometry between the entry-point and the target rings. The software first identifies the main target and target type, then calibrates the center and ring lines — the green circles in the left image — then corrects rotation and aspect ratio, and assigns scores by distance to the center. Points near a ring line are highlighted in yellow for manual checking. Note that I have not yet validated scoring accuracy against arrow-by-arrow live results.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still has several limitations. Reference annotations are incomplete, so Precision is only indicative; there is no independent test set — the 28 development photos were reused many times; most experiments used only one random seed; the fine-tuning of YOLO-NAS still needs work — its training data is unknown, so comparisons cannot be attributed; localization errors are not yet converted to millimeters, and scores have not been compared with live results. Next, I plan to complete full-image manual annotations, collect new photos by shooting session as an independent test set, and validate automatic scoring against live arrow-by-arrow results.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three takeaways. First, annotation quality determines what the model learns — if the answer is wrong, the model will diligently learn the wrong thing. Second, a falling loss does not mean the task is done; always go back to the photos and check Recall, Precision, and localization error. Third, one approach being better overall does not mean knowing why; proving the role of a factor requires single-factor comparison. Also, annotation review, script writing, and model rebuilding in this project were assisted by AI tools. Thank you, teachers — comments and suggestions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pic>
        <p:nvPicPr>
          <p:cNvPr id="2" name="Image 0" descr="/Users/xiaolu/source/ArcheryAssistant-Launcher-1.0.0-win64/课题报告/答辩PPT/assets/cover.jpg"/>
          <p:cNvPicPr>
            <a:picLocks noChangeAspect="1"/>
          </p:cNvPicPr>
          <p:nvPr/>
        </p:nvPicPr>
        <p:blipFill>
          <a:blip r:embed="rId3"/>
          <a:srcRect/>
          <a:stretch/>
        </p:blipFill>
        <p:spPr>
          <a:xfrm>
            <a:off x="4937760" y="0"/>
            <a:ext cx="4206240" cy="5143500"/>
          </a:xfrm>
          <a:prstGeom prst="rect">
            <a:avLst/>
          </a:prstGeom>
        </p:spPr>
      </p:pic>
      <p:sp>
        <p:nvSpPr>
          <p:cNvPr id="3" name="Shape 0"/>
          <p:cNvSpPr/>
          <p:nvPr/>
        </p:nvSpPr>
        <p:spPr>
          <a:xfrm>
            <a:off x="548640" y="502920"/>
            <a:ext cx="384048" cy="384048"/>
          </a:xfrm>
          <a:prstGeom prst="ellipse">
            <a:avLst/>
          </a:prstGeom>
          <a:solidFill>
            <a:srgbClr val="1F6FB2"/>
          </a:solidFill>
          <a:ln w="12700">
            <a:solidFill>
              <a:srgbClr val="1F6FB2"/>
            </a:solidFill>
            <a:prstDash val="solid"/>
          </a:ln>
        </p:spPr>
        <p:txBody>
          <a:bodyPr/>
          <a:lstStyle/>
          <a:p>
            <a:endParaRPr lang="en-CN"/>
          </a:p>
        </p:txBody>
      </p:sp>
      <p:sp>
        <p:nvSpPr>
          <p:cNvPr id="4" name="Shape 1"/>
          <p:cNvSpPr/>
          <p:nvPr/>
        </p:nvSpPr>
        <p:spPr>
          <a:xfrm>
            <a:off x="613928" y="568208"/>
            <a:ext cx="253472" cy="253472"/>
          </a:xfrm>
          <a:prstGeom prst="ellipse">
            <a:avLst/>
          </a:prstGeom>
          <a:solidFill>
            <a:srgbClr val="D62839"/>
          </a:solidFill>
          <a:ln w="12700">
            <a:solidFill>
              <a:srgbClr val="D62839"/>
            </a:solidFill>
            <a:prstDash val="solid"/>
          </a:ln>
        </p:spPr>
        <p:txBody>
          <a:bodyPr/>
          <a:lstStyle/>
          <a:p>
            <a:endParaRPr lang="en-CN"/>
          </a:p>
        </p:txBody>
      </p:sp>
      <p:sp>
        <p:nvSpPr>
          <p:cNvPr id="5" name="Shape 2"/>
          <p:cNvSpPr/>
          <p:nvPr/>
        </p:nvSpPr>
        <p:spPr>
          <a:xfrm>
            <a:off x="677296" y="631576"/>
            <a:ext cx="126736" cy="126736"/>
          </a:xfrm>
          <a:prstGeom prst="ellipse">
            <a:avLst/>
          </a:prstGeom>
          <a:solidFill>
            <a:srgbClr val="F2B705"/>
          </a:solidFill>
          <a:ln w="12700">
            <a:solidFill>
              <a:srgbClr val="F2B705"/>
            </a:solidFill>
            <a:prstDash val="solid"/>
          </a:ln>
        </p:spPr>
        <p:txBody>
          <a:bodyPr/>
          <a:lstStyle/>
          <a:p>
            <a:endParaRPr lang="en-CN"/>
          </a:p>
        </p:txBody>
      </p:sp>
      <p:sp>
        <p:nvSpPr>
          <p:cNvPr id="6" name="Text 3"/>
          <p:cNvSpPr/>
          <p:nvPr/>
        </p:nvSpPr>
        <p:spPr>
          <a:xfrm>
            <a:off x="548640" y="1097280"/>
            <a:ext cx="4114800" cy="274320"/>
          </a:xfrm>
          <a:prstGeom prst="rect">
            <a:avLst/>
          </a:prstGeom>
          <a:noFill/>
          <a:ln/>
        </p:spPr>
        <p:txBody>
          <a:bodyPr wrap="square" lIns="0" tIns="0" rIns="0" bIns="0" rtlCol="0" anchor="t">
            <a:normAutofit fontScale="58671"/>
          </a:bodyPr>
          <a:lstStyle/>
          <a:p>
            <a:pPr marL="0" indent="0">
              <a:buNone/>
            </a:pPr>
            <a:r>
              <a:rPr lang="en-US" sz="1200" b="1" dirty="0">
                <a:solidFill>
                  <a:srgbClr val="F2B705"/>
                </a:solidFill>
                <a:latin typeface="Microsoft YaHei" pitchFamily="34" charset="0"/>
                <a:ea typeface="Microsoft YaHei" pitchFamily="34" charset="-122"/>
                <a:cs typeface="Microsoft YaHei" pitchFamily="34" charset="-120"/>
              </a:rPr>
              <a:t>High School Research-Based Learning Project Defense</a:t>
            </a:r>
            <a:endParaRPr lang="en-US" sz="1200" dirty="0"/>
          </a:p>
        </p:txBody>
      </p:sp>
      <p:sp>
        <p:nvSpPr>
          <p:cNvPr id="7" name="Text 4"/>
          <p:cNvSpPr/>
          <p:nvPr/>
        </p:nvSpPr>
        <p:spPr>
          <a:xfrm>
            <a:off x="548640" y="1417320"/>
            <a:ext cx="4114800" cy="1554480"/>
          </a:xfrm>
          <a:prstGeom prst="rect">
            <a:avLst/>
          </a:prstGeom>
          <a:noFill/>
          <a:ln/>
        </p:spPr>
        <p:txBody>
          <a:bodyPr wrap="square" lIns="0" tIns="0" rIns="0" bIns="0" rtlCol="0" anchor="ctr">
            <a:normAutofit fontScale="50663"/>
          </a:bodyPr>
          <a:lstStyle/>
          <a:p>
            <a:pPr marL="0" indent="0">
              <a:buNone/>
            </a:pPr>
            <a:r>
              <a:rPr lang="en-US" sz="2800" b="1" dirty="0">
                <a:solidFill>
                  <a:srgbClr val="FFFFFF"/>
                </a:solidFill>
                <a:latin typeface="Microsoft YaHei" pitchFamily="34" charset="0"/>
                <a:ea typeface="Microsoft YaHei" pitchFamily="34" charset="-122"/>
                <a:cs typeface="Microsoft YaHei" pitchFamily="34" charset="-120"/>
              </a:rPr>
              <a:t>Neural Network-Based</a:t>
            </a:r>
            <a:endParaRPr lang="en-US" sz="2800" dirty="0"/>
          </a:p>
          <a:p>
            <a:pPr marL="0" indent="0">
              <a:buNone/>
            </a:pPr>
            <a:r>
              <a:rPr lang="en-US" sz="2800" b="1" dirty="0">
                <a:solidFill>
                  <a:srgbClr val="FFFFFF"/>
                </a:solidFill>
                <a:latin typeface="Microsoft YaHei" pitchFamily="34" charset="0"/>
                <a:ea typeface="Microsoft YaHei" pitchFamily="34" charset="-122"/>
                <a:cs typeface="Microsoft YaHei" pitchFamily="34" charset="-120"/>
              </a:rPr>
              <a:t>Archery Entry-Point Detection</a:t>
            </a:r>
            <a:endParaRPr lang="en-US" sz="2800" dirty="0"/>
          </a:p>
          <a:p>
            <a:pPr marL="0" indent="0">
              <a:buNone/>
            </a:pPr>
            <a:r>
              <a:rPr lang="en-US" sz="2800" b="1" dirty="0">
                <a:solidFill>
                  <a:srgbClr val="FFFFFF"/>
                </a:solidFill>
                <a:latin typeface="Microsoft YaHei" pitchFamily="34" charset="0"/>
                <a:ea typeface="Microsoft YaHei" pitchFamily="34" charset="-122"/>
                <a:cs typeface="Microsoft YaHei" pitchFamily="34" charset="-120"/>
              </a:rPr>
              <a:t>and Automatic Scoring</a:t>
            </a:r>
            <a:endParaRPr lang="en-US" sz="2800" dirty="0"/>
          </a:p>
        </p:txBody>
      </p:sp>
      <p:sp>
        <p:nvSpPr>
          <p:cNvPr id="8" name="Text 5"/>
          <p:cNvSpPr/>
          <p:nvPr/>
        </p:nvSpPr>
        <p:spPr>
          <a:xfrm>
            <a:off x="548640" y="3108960"/>
            <a:ext cx="4114800" cy="365760"/>
          </a:xfrm>
          <a:prstGeom prst="rect">
            <a:avLst/>
          </a:prstGeom>
          <a:noFill/>
          <a:ln/>
        </p:spPr>
        <p:txBody>
          <a:bodyPr wrap="square" lIns="0" tIns="0" rIns="0" bIns="0" rtlCol="0" anchor="t">
            <a:normAutofit fontScale="56630"/>
          </a:bodyPr>
          <a:lstStyle/>
          <a:p>
            <a:pPr marL="0" indent="0">
              <a:buNone/>
            </a:pPr>
            <a:r>
              <a:rPr lang="en-US" sz="1600" dirty="0">
                <a:solidFill>
                  <a:srgbClr val="CADCFC"/>
                </a:solidFill>
                <a:latin typeface="Microsoft YaHei" pitchFamily="34" charset="0"/>
                <a:ea typeface="Microsoft YaHei" pitchFamily="34" charset="-122"/>
                <a:cs typeface="Microsoft YaHei" pitchFamily="34" charset="-120"/>
              </a:rPr>
              <a:t>From Whole-Arrow Detection to Entry-Point Localization</a:t>
            </a:r>
            <a:endParaRPr lang="en-US" sz="1600" dirty="0"/>
          </a:p>
        </p:txBody>
      </p:sp>
      <p:sp>
        <p:nvSpPr>
          <p:cNvPr id="10" name="Text 7"/>
          <p:cNvSpPr/>
          <p:nvPr/>
        </p:nvSpPr>
        <p:spPr>
          <a:xfrm>
            <a:off x="548640" y="4315968"/>
            <a:ext cx="4114800" cy="274320"/>
          </a:xfrm>
          <a:prstGeom prst="rect">
            <a:avLst/>
          </a:prstGeom>
          <a:noFill/>
          <a:ln/>
        </p:spPr>
        <p:txBody>
          <a:bodyPr wrap="square" lIns="0" tIns="0" rIns="0" bIns="0" rtlCol="0" anchor="t"/>
          <a:lstStyle/>
          <a:p>
            <a:pPr marL="0" indent="0">
              <a:buNone/>
            </a:pPr>
            <a:r>
              <a:rPr lang="en-US" sz="1100" dirty="0">
                <a:solidFill>
                  <a:srgbClr val="9CA3AF"/>
                </a:solidFill>
                <a:latin typeface="Microsoft YaHei" pitchFamily="34" charset="0"/>
                <a:ea typeface="Microsoft YaHei" pitchFamily="34" charset="-122"/>
                <a:cs typeface="Microsoft YaHei" pitchFamily="34" charset="-120"/>
              </a:rPr>
              <a:t>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Starting from One Need: Can a Photo Score Automatically?</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Text 6"/>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9" name="Text 7"/>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0" name="Text 8"/>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2</a:t>
            </a:r>
            <a:endParaRPr lang="en-US" sz="900" dirty="0"/>
          </a:p>
        </p:txBody>
      </p:sp>
      <p:sp>
        <p:nvSpPr>
          <p:cNvPr id="12" name="Shape 9"/>
          <p:cNvSpPr/>
          <p:nvPr/>
        </p:nvSpPr>
        <p:spPr>
          <a:xfrm>
            <a:off x="457200" y="1005840"/>
            <a:ext cx="3749040" cy="822960"/>
          </a:xfrm>
          <a:prstGeom prst="rect">
            <a:avLst/>
          </a:prstGeom>
          <a:solidFill>
            <a:srgbClr val="FFFFFF"/>
          </a:solidFill>
          <a:ln w="9525">
            <a:solidFill>
              <a:srgbClr val="E3DCCB"/>
            </a:solidFill>
            <a:prstDash val="solid"/>
          </a:ln>
        </p:spPr>
        <p:txBody>
          <a:bodyPr/>
          <a:lstStyle/>
          <a:p>
            <a:endParaRPr lang="en-CN"/>
          </a:p>
        </p:txBody>
      </p:sp>
      <p:sp>
        <p:nvSpPr>
          <p:cNvPr id="13" name="Shape 10"/>
          <p:cNvSpPr/>
          <p:nvPr/>
        </p:nvSpPr>
        <p:spPr>
          <a:xfrm>
            <a:off x="640080" y="1207008"/>
            <a:ext cx="420624" cy="420624"/>
          </a:xfrm>
          <a:prstGeom prst="ellipse">
            <a:avLst/>
          </a:prstGeom>
          <a:solidFill>
            <a:srgbClr val="F2B705"/>
          </a:solidFill>
          <a:ln w="12700">
            <a:solidFill>
              <a:srgbClr val="F2B705"/>
            </a:solidFill>
            <a:prstDash val="solid"/>
          </a:ln>
        </p:spPr>
        <p:txBody>
          <a:bodyPr/>
          <a:lstStyle/>
          <a:p>
            <a:endParaRPr lang="en-CN"/>
          </a:p>
        </p:txBody>
      </p:sp>
      <p:sp>
        <p:nvSpPr>
          <p:cNvPr id="14" name="Text 11"/>
          <p:cNvSpPr/>
          <p:nvPr/>
        </p:nvSpPr>
        <p:spPr>
          <a:xfrm>
            <a:off x="640080" y="1207008"/>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1</a:t>
            </a:r>
            <a:endParaRPr lang="en-US" sz="1300" dirty="0"/>
          </a:p>
        </p:txBody>
      </p:sp>
      <p:sp>
        <p:nvSpPr>
          <p:cNvPr id="15" name="Text 12"/>
          <p:cNvSpPr/>
          <p:nvPr/>
        </p:nvSpPr>
        <p:spPr>
          <a:xfrm>
            <a:off x="1234440" y="1152144"/>
            <a:ext cx="2834640" cy="292608"/>
          </a:xfrm>
          <a:prstGeom prst="rect">
            <a:avLst/>
          </a:prstGeom>
          <a:noFill/>
          <a:ln/>
        </p:spPr>
        <p:txBody>
          <a:bodyPr wrap="square" lIns="0" tIns="0" rIns="0" bIns="0" rtlCol="0" anchor="t">
            <a:normAutofit fontScale="57055"/>
          </a:bodyPr>
          <a:lstStyle/>
          <a:p>
            <a:pPr marL="0" indent="0">
              <a:buNone/>
            </a:pPr>
            <a:r>
              <a:rPr lang="en-US" sz="1500" b="1" dirty="0">
                <a:solidFill>
                  <a:srgbClr val="14213D"/>
                </a:solidFill>
                <a:latin typeface="Microsoft YaHei" pitchFamily="34" charset="0"/>
                <a:ea typeface="Microsoft YaHei" pitchFamily="34" charset="-122"/>
                <a:cs typeface="Microsoft YaHei" pitchFamily="34" charset="-120"/>
              </a:rPr>
              <a:t>Take a photo of the target face</a:t>
            </a:r>
            <a:endParaRPr lang="en-US" sz="1500" dirty="0"/>
          </a:p>
        </p:txBody>
      </p:sp>
      <p:sp>
        <p:nvSpPr>
          <p:cNvPr id="16" name="Text 13"/>
          <p:cNvSpPr/>
          <p:nvPr/>
        </p:nvSpPr>
        <p:spPr>
          <a:xfrm>
            <a:off x="1234440" y="1463040"/>
            <a:ext cx="2834640" cy="237744"/>
          </a:xfrm>
          <a:prstGeom prst="rect">
            <a:avLst/>
          </a:prstGeom>
          <a:noFill/>
          <a:ln/>
        </p:spPr>
        <p:txBody>
          <a:bodyPr wrap="square" lIns="0" tIns="0" rIns="0" bIns="0" rtlCol="0" anchor="t">
            <a:normAutofit fontScale="59364"/>
          </a:bodyPr>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After training, shoot directly with a phone</a:t>
            </a:r>
            <a:endParaRPr lang="en-US" sz="1100" dirty="0"/>
          </a:p>
        </p:txBody>
      </p:sp>
      <p:sp>
        <p:nvSpPr>
          <p:cNvPr id="17" name="Shape 14"/>
          <p:cNvSpPr/>
          <p:nvPr/>
        </p:nvSpPr>
        <p:spPr>
          <a:xfrm>
            <a:off x="457200" y="1993392"/>
            <a:ext cx="3749040" cy="822960"/>
          </a:xfrm>
          <a:prstGeom prst="rect">
            <a:avLst/>
          </a:prstGeom>
          <a:solidFill>
            <a:srgbClr val="FFFFFF"/>
          </a:solidFill>
          <a:ln w="9525">
            <a:solidFill>
              <a:srgbClr val="E3DCCB"/>
            </a:solidFill>
            <a:prstDash val="solid"/>
          </a:ln>
        </p:spPr>
        <p:txBody>
          <a:bodyPr/>
          <a:lstStyle/>
          <a:p>
            <a:endParaRPr lang="en-CN"/>
          </a:p>
        </p:txBody>
      </p:sp>
      <p:sp>
        <p:nvSpPr>
          <p:cNvPr id="18" name="Shape 15"/>
          <p:cNvSpPr/>
          <p:nvPr/>
        </p:nvSpPr>
        <p:spPr>
          <a:xfrm>
            <a:off x="640080" y="2194560"/>
            <a:ext cx="420624" cy="420624"/>
          </a:xfrm>
          <a:prstGeom prst="ellipse">
            <a:avLst/>
          </a:prstGeom>
          <a:solidFill>
            <a:srgbClr val="F2B705"/>
          </a:solidFill>
          <a:ln w="12700">
            <a:solidFill>
              <a:srgbClr val="F2B705"/>
            </a:solidFill>
            <a:prstDash val="solid"/>
          </a:ln>
        </p:spPr>
        <p:txBody>
          <a:bodyPr/>
          <a:lstStyle/>
          <a:p>
            <a:endParaRPr lang="en-CN"/>
          </a:p>
        </p:txBody>
      </p:sp>
      <p:sp>
        <p:nvSpPr>
          <p:cNvPr id="19" name="Text 16"/>
          <p:cNvSpPr/>
          <p:nvPr/>
        </p:nvSpPr>
        <p:spPr>
          <a:xfrm>
            <a:off x="640080" y="2194560"/>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2</a:t>
            </a:r>
            <a:endParaRPr lang="en-US" sz="1300" dirty="0"/>
          </a:p>
        </p:txBody>
      </p:sp>
      <p:sp>
        <p:nvSpPr>
          <p:cNvPr id="20" name="Text 17"/>
          <p:cNvSpPr/>
          <p:nvPr/>
        </p:nvSpPr>
        <p:spPr>
          <a:xfrm>
            <a:off x="1234440" y="2139696"/>
            <a:ext cx="2834640" cy="292608"/>
          </a:xfrm>
          <a:prstGeom prst="rect">
            <a:avLst/>
          </a:prstGeom>
          <a:noFill/>
          <a:ln/>
        </p:spPr>
        <p:txBody>
          <a:bodyPr wrap="square" lIns="0" tIns="0" rIns="0" bIns="0" rtlCol="0" anchor="t">
            <a:normAutofit fontScale="57055"/>
          </a:bodyPr>
          <a:lstStyle/>
          <a:p>
            <a:pPr marL="0" indent="0">
              <a:buNone/>
            </a:pPr>
            <a:r>
              <a:rPr lang="en-US" sz="1500" b="1" dirty="0">
                <a:solidFill>
                  <a:srgbClr val="14213D"/>
                </a:solidFill>
                <a:latin typeface="Microsoft YaHei" pitchFamily="34" charset="0"/>
                <a:ea typeface="Microsoft YaHei" pitchFamily="34" charset="-122"/>
                <a:cs typeface="Microsoft YaHei" pitchFamily="34" charset="-120"/>
              </a:rPr>
              <a:t>The computer finds every arrow</a:t>
            </a:r>
            <a:endParaRPr lang="en-US" sz="1500" dirty="0"/>
          </a:p>
        </p:txBody>
      </p:sp>
      <p:sp>
        <p:nvSpPr>
          <p:cNvPr id="21" name="Text 18"/>
          <p:cNvSpPr/>
          <p:nvPr/>
        </p:nvSpPr>
        <p:spPr>
          <a:xfrm>
            <a:off x="1234440" y="2450592"/>
            <a:ext cx="2834640" cy="237744"/>
          </a:xfrm>
          <a:prstGeom prst="rect">
            <a:avLst/>
          </a:prstGeom>
          <a:noFill/>
          <a:ln/>
        </p:spPr>
        <p:txBody>
          <a:bodyPr wrap="square" lIns="0" tIns="0" rIns="0" bIns="0" rtlCol="0" anchor="t">
            <a:normAutofit fontScale="90675"/>
          </a:bodyPr>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Including tilted and overlapping arrows</a:t>
            </a:r>
            <a:endParaRPr lang="en-US" sz="1100" dirty="0"/>
          </a:p>
        </p:txBody>
      </p:sp>
      <p:sp>
        <p:nvSpPr>
          <p:cNvPr id="22" name="Shape 19"/>
          <p:cNvSpPr/>
          <p:nvPr/>
        </p:nvSpPr>
        <p:spPr>
          <a:xfrm>
            <a:off x="457200" y="2980944"/>
            <a:ext cx="3749040" cy="822960"/>
          </a:xfrm>
          <a:prstGeom prst="rect">
            <a:avLst/>
          </a:prstGeom>
          <a:solidFill>
            <a:srgbClr val="FFFFFF"/>
          </a:solidFill>
          <a:ln w="9525">
            <a:solidFill>
              <a:srgbClr val="E3DCCB"/>
            </a:solidFill>
            <a:prstDash val="solid"/>
          </a:ln>
        </p:spPr>
        <p:txBody>
          <a:bodyPr/>
          <a:lstStyle/>
          <a:p>
            <a:endParaRPr lang="en-CN"/>
          </a:p>
        </p:txBody>
      </p:sp>
      <p:sp>
        <p:nvSpPr>
          <p:cNvPr id="23" name="Shape 20"/>
          <p:cNvSpPr/>
          <p:nvPr/>
        </p:nvSpPr>
        <p:spPr>
          <a:xfrm>
            <a:off x="640080" y="3182112"/>
            <a:ext cx="420624" cy="420624"/>
          </a:xfrm>
          <a:prstGeom prst="ellipse">
            <a:avLst/>
          </a:prstGeom>
          <a:solidFill>
            <a:srgbClr val="F2B705"/>
          </a:solidFill>
          <a:ln w="12700">
            <a:solidFill>
              <a:srgbClr val="F2B705"/>
            </a:solidFill>
            <a:prstDash val="solid"/>
          </a:ln>
        </p:spPr>
        <p:txBody>
          <a:bodyPr/>
          <a:lstStyle/>
          <a:p>
            <a:endParaRPr lang="en-CN"/>
          </a:p>
        </p:txBody>
      </p:sp>
      <p:sp>
        <p:nvSpPr>
          <p:cNvPr id="24" name="Text 21"/>
          <p:cNvSpPr/>
          <p:nvPr/>
        </p:nvSpPr>
        <p:spPr>
          <a:xfrm>
            <a:off x="640080" y="3182112"/>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3</a:t>
            </a:r>
            <a:endParaRPr lang="en-US" sz="1300" dirty="0"/>
          </a:p>
        </p:txBody>
      </p:sp>
      <p:sp>
        <p:nvSpPr>
          <p:cNvPr id="25" name="Text 22"/>
          <p:cNvSpPr/>
          <p:nvPr/>
        </p:nvSpPr>
        <p:spPr>
          <a:xfrm>
            <a:off x="1234440" y="3127248"/>
            <a:ext cx="2834640" cy="292608"/>
          </a:xfrm>
          <a:prstGeom prst="rect">
            <a:avLst/>
          </a:prstGeom>
          <a:noFill/>
          <a:ln/>
        </p:spPr>
        <p:txBody>
          <a:bodyPr wrap="square" lIns="0" tIns="0" rIns="0" bIns="0" rtlCol="0" anchor="t">
            <a:normAutofit fontScale="57055"/>
          </a:bodyPr>
          <a:lstStyle/>
          <a:p>
            <a:pPr marL="0" indent="0">
              <a:buNone/>
            </a:pPr>
            <a:r>
              <a:rPr lang="en-US" sz="1500" b="1" dirty="0">
                <a:solidFill>
                  <a:srgbClr val="14213D"/>
                </a:solidFill>
                <a:latin typeface="Microsoft YaHei" pitchFamily="34" charset="0"/>
                <a:ea typeface="Microsoft YaHei" pitchFamily="34" charset="-122"/>
                <a:cs typeface="Microsoft YaHei" pitchFamily="34" charset="-120"/>
              </a:rPr>
              <a:t>The score is computed automatically</a:t>
            </a:r>
            <a:endParaRPr lang="en-US" sz="1500" dirty="0"/>
          </a:p>
        </p:txBody>
      </p:sp>
      <p:sp>
        <p:nvSpPr>
          <p:cNvPr id="26" name="Text 23"/>
          <p:cNvSpPr/>
          <p:nvPr/>
        </p:nvSpPr>
        <p:spPr>
          <a:xfrm>
            <a:off x="1234440" y="3438144"/>
            <a:ext cx="2834640" cy="237744"/>
          </a:xfrm>
          <a:prstGeom prst="rect">
            <a:avLst/>
          </a:prstGeom>
          <a:noFill/>
          <a:ln/>
        </p:spPr>
        <p:txBody>
          <a:bodyPr wrap="square" lIns="0" tIns="0" rIns="0" bIns="0" rtlCol="0" anchor="t"/>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And entered into training records</a:t>
            </a:r>
            <a:endParaRPr lang="en-US" sz="1100" dirty="0"/>
          </a:p>
        </p:txBody>
      </p:sp>
      <p:sp>
        <p:nvSpPr>
          <p:cNvPr id="27" name="Text 24"/>
          <p:cNvSpPr/>
          <p:nvPr/>
        </p:nvSpPr>
        <p:spPr>
          <a:xfrm>
            <a:off x="457200" y="4069080"/>
            <a:ext cx="3749040" cy="457200"/>
          </a:xfrm>
          <a:prstGeom prst="rect">
            <a:avLst/>
          </a:prstGeom>
          <a:noFill/>
          <a:ln/>
        </p:spPr>
        <p:txBody>
          <a:bodyPr wrap="square" lIns="0" tIns="0" rIns="0" bIns="0" rtlCol="0" anchor="t">
            <a:normAutofit fontScale="59364"/>
          </a:bodyPr>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Original software: scores entered manually, or arrows clicked one by one on a virtual target</a:t>
            </a:r>
            <a:endParaRPr lang="en-US" sz="1100" dirty="0"/>
          </a:p>
        </p:txBody>
      </p:sp>
      <p:pic>
        <p:nvPicPr>
          <p:cNvPr id="28" name="Image 0" descr="/Users/xiaolu/source/ArcheryAssistant-Launcher-1.0.0-win64/课题报告/答辩PPT/assets/photo2.jpg"/>
          <p:cNvPicPr>
            <a:picLocks noChangeAspect="1"/>
          </p:cNvPicPr>
          <p:nvPr/>
        </p:nvPicPr>
        <p:blipFill>
          <a:blip r:embed="rId3"/>
          <a:stretch>
            <a:fillRect/>
          </a:stretch>
        </p:blipFill>
        <p:spPr>
          <a:xfrm>
            <a:off x="4572000" y="1005840"/>
            <a:ext cx="4114800" cy="3086100"/>
          </a:xfrm>
          <a:prstGeom prst="rect">
            <a:avLst/>
          </a:prstGeom>
        </p:spPr>
      </p:pic>
      <p:sp>
        <p:nvSpPr>
          <p:cNvPr id="29" name="Text 25"/>
          <p:cNvSpPr/>
          <p:nvPr/>
        </p:nvSpPr>
        <p:spPr>
          <a:xfrm>
            <a:off x="4572000" y="4160520"/>
            <a:ext cx="4114800" cy="274320"/>
          </a:xfrm>
          <a:prstGeom prst="rect">
            <a:avLst/>
          </a:prstGeom>
          <a:noFill/>
          <a:ln/>
        </p:spPr>
        <p:txBody>
          <a:bodyPr wrap="square" lIns="0" tIns="0" rIns="0" bIns="0" rtlCol="0" anchor="t">
            <a:normAutofit fontScale="60165"/>
          </a:bodyPr>
          <a:lstStyle/>
          <a:p>
            <a:pPr marL="0" indent="0" algn="ctr">
              <a:buNone/>
            </a:pPr>
            <a:r>
              <a:rPr lang="en-US" sz="1000" dirty="0">
                <a:solidFill>
                  <a:srgbClr val="6B7280"/>
                </a:solidFill>
                <a:latin typeface="Microsoft YaHei" pitchFamily="34" charset="0"/>
                <a:ea typeface="Microsoft YaHei" pitchFamily="34" charset="-122"/>
                <a:cs typeface="Microsoft YaHei" pitchFamily="34" charset="-120"/>
              </a:rPr>
              <a:t>Real training photo: many arrows, tilted angles, and other targets nearby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First Attempt: Arrows Detected, but No Entry-Point Found</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Text 6"/>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9" name="Text 7"/>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0" name="Text 8"/>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3</a:t>
            </a:r>
            <a:endParaRPr lang="en-US" sz="900" dirty="0"/>
          </a:p>
        </p:txBody>
      </p:sp>
      <p:pic>
        <p:nvPicPr>
          <p:cNvPr id="12" name="Image 0" descr="/Users/xiaolu/source/ArcheryAssistant-Launcher-1.0.0-win64/课题报告/答辩PPT/assets/yolox.jpg"/>
          <p:cNvPicPr>
            <a:picLocks noChangeAspect="1"/>
          </p:cNvPicPr>
          <p:nvPr/>
        </p:nvPicPr>
        <p:blipFill>
          <a:blip r:embed="rId3"/>
          <a:stretch>
            <a:fillRect/>
          </a:stretch>
        </p:blipFill>
        <p:spPr>
          <a:xfrm>
            <a:off x="457200" y="914400"/>
            <a:ext cx="4389120" cy="3291840"/>
          </a:xfrm>
          <a:prstGeom prst="rect">
            <a:avLst/>
          </a:prstGeom>
        </p:spPr>
      </p:pic>
      <p:sp>
        <p:nvSpPr>
          <p:cNvPr id="13" name="Text 9"/>
          <p:cNvSpPr/>
          <p:nvPr/>
        </p:nvSpPr>
        <p:spPr>
          <a:xfrm>
            <a:off x="457200" y="4279392"/>
            <a:ext cx="4389120" cy="274320"/>
          </a:xfrm>
          <a:prstGeom prst="rect">
            <a:avLst/>
          </a:prstGeom>
          <a:noFill/>
          <a:ln/>
        </p:spPr>
        <p:txBody>
          <a:bodyPr wrap="square" lIns="0" tIns="0" rIns="0" bIns="0" rtlCol="0" anchor="t">
            <a:normAutofit fontScale="60165"/>
          </a:bodyPr>
          <a:lstStyle/>
          <a:p>
            <a:pPr marL="0" indent="0" algn="ctr">
              <a:buNone/>
            </a:pPr>
            <a:r>
              <a:rPr lang="en-US" sz="1000" dirty="0">
                <a:solidFill>
                  <a:srgbClr val="6B7280"/>
                </a:solidFill>
                <a:latin typeface="Microsoft YaHei" pitchFamily="34" charset="0"/>
                <a:ea typeface="Microsoft YaHei" pitchFamily="34" charset="-122"/>
                <a:cs typeface="Microsoft YaHei" pitchFamily="34" charset="-120"/>
              </a:rPr>
              <a:t>Entry-points inferred by the old approach (circles) matched none of the references in this image (0/3)</a:t>
            </a:r>
            <a:endParaRPr lang="en-US" sz="1000" dirty="0"/>
          </a:p>
        </p:txBody>
      </p:sp>
      <p:sp>
        <p:nvSpPr>
          <p:cNvPr id="14" name="Text 10"/>
          <p:cNvSpPr/>
          <p:nvPr/>
        </p:nvSpPr>
        <p:spPr>
          <a:xfrm>
            <a:off x="5166360" y="914400"/>
            <a:ext cx="3520440" cy="274320"/>
          </a:xfrm>
          <a:prstGeom prst="rect">
            <a:avLst/>
          </a:prstGeom>
          <a:noFill/>
          <a:ln/>
        </p:spPr>
        <p:txBody>
          <a:bodyPr wrap="square" lIns="0" tIns="0" rIns="0" bIns="0" rtlCol="0" anchor="t">
            <a:normAutofit fontScale="58671"/>
          </a:bodyPr>
          <a:lstStyle/>
          <a:p>
            <a:pPr marL="0" indent="0">
              <a:buNone/>
            </a:pPr>
            <a:r>
              <a:rPr lang="en-US" sz="1200" dirty="0">
                <a:solidFill>
                  <a:srgbClr val="6B7280"/>
                </a:solidFill>
                <a:latin typeface="Microsoft YaHei" pitchFamily="34" charset="0"/>
                <a:ea typeface="Microsoft YaHei" pitchFamily="34" charset="-122"/>
                <a:cs typeface="Microsoft YaHei" pitchFamily="34" charset="-120"/>
              </a:rPr>
              <a:t>Whole-arrow box + offset rule to infer the entry-point</a:t>
            </a:r>
            <a:endParaRPr lang="en-US" sz="1200" dirty="0"/>
          </a:p>
        </p:txBody>
      </p:sp>
      <p:sp>
        <p:nvSpPr>
          <p:cNvPr id="15" name="Text 11"/>
          <p:cNvSpPr/>
          <p:nvPr/>
        </p:nvSpPr>
        <p:spPr>
          <a:xfrm>
            <a:off x="5166360" y="1188720"/>
            <a:ext cx="3520440" cy="777240"/>
          </a:xfrm>
          <a:prstGeom prst="rect">
            <a:avLst/>
          </a:prstGeom>
          <a:noFill/>
          <a:ln/>
        </p:spPr>
        <p:txBody>
          <a:bodyPr wrap="square" lIns="0" tIns="0" rIns="0" bIns="0" rtlCol="0" anchor="ctr"/>
          <a:lstStyle/>
          <a:p>
            <a:pPr marL="0" indent="0">
              <a:buNone/>
            </a:pPr>
            <a:r>
              <a:rPr lang="en-US" sz="4600" b="1" dirty="0">
                <a:solidFill>
                  <a:srgbClr val="D62839"/>
                </a:solidFill>
                <a:latin typeface="Microsoft YaHei" pitchFamily="34" charset="0"/>
                <a:ea typeface="Microsoft YaHei" pitchFamily="34" charset="-122"/>
                <a:cs typeface="Microsoft YaHei" pitchFamily="34" charset="-120"/>
              </a:rPr>
              <a:t>16 / 1018</a:t>
            </a:r>
            <a:endParaRPr lang="en-US" sz="4600" dirty="0"/>
          </a:p>
        </p:txBody>
      </p:sp>
      <p:sp>
        <p:nvSpPr>
          <p:cNvPr id="16" name="Text 12"/>
          <p:cNvSpPr/>
          <p:nvPr/>
        </p:nvSpPr>
        <p:spPr>
          <a:xfrm>
            <a:off x="5166360" y="2011680"/>
            <a:ext cx="3520440" cy="457200"/>
          </a:xfrm>
          <a:prstGeom prst="rect">
            <a:avLst/>
          </a:prstGeom>
          <a:noFill/>
          <a:ln/>
        </p:spPr>
        <p:txBody>
          <a:bodyPr wrap="square" lIns="0" tIns="0" rIns="0" bIns="0" rtlCol="0" anchor="t">
            <a:normAutofit fontScale="69934"/>
          </a:bodyP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Across 144 photos, only 16 of the reference entry-points matched within an 8-pixel tolerance</a:t>
            </a:r>
            <a:endParaRPr lang="en-US" sz="1200" dirty="0"/>
          </a:p>
        </p:txBody>
      </p:sp>
      <p:sp>
        <p:nvSpPr>
          <p:cNvPr id="17" name="Text 13"/>
          <p:cNvSpPr/>
          <p:nvPr/>
        </p:nvSpPr>
        <p:spPr>
          <a:xfrm>
            <a:off x="5166360" y="2606040"/>
            <a:ext cx="3520440" cy="685800"/>
          </a:xfrm>
          <a:prstGeom prst="rect">
            <a:avLst/>
          </a:prstGeom>
          <a:noFill/>
          <a:ln/>
        </p:spPr>
        <p:txBody>
          <a:bodyPr wrap="square" lIns="0" tIns="0" rIns="0" bIns="0" rtlCol="0" anchor="t">
            <a:normAutofit fontScale="54365"/>
          </a:bodyPr>
          <a:lstStyle/>
          <a:p>
            <a:pPr marL="342900" indent="-342900">
              <a:spcAft>
                <a:spcPts val="400"/>
              </a:spcAft>
              <a:buSzPct val="100000"/>
              <a:buChar char="•"/>
            </a:pPr>
            <a:r>
              <a:rPr lang="en-US" sz="1200" dirty="0">
                <a:solidFill>
                  <a:srgbClr val="1F2933"/>
                </a:solidFill>
                <a:latin typeface="Microsoft YaHei" pitchFamily="34" charset="0"/>
                <a:ea typeface="Microsoft YaHei" pitchFamily="34" charset="-122"/>
                <a:cs typeface="Microsoft YaHei" pitchFamily="34" charset="-120"/>
              </a:rPr>
              <a:t>The box center often falls in the middle of the shaft</a:t>
            </a:r>
            <a:endParaRPr lang="en-US" sz="1200" dirty="0"/>
          </a:p>
          <a:p>
            <a:pPr marL="342900" indent="-342900">
              <a:spcAft>
                <a:spcPts val="400"/>
              </a:spcAft>
              <a:buSzPct val="100000"/>
              <a:buChar char="•"/>
            </a:pPr>
            <a:r>
              <a:rPr lang="en-US" sz="1200" dirty="0">
                <a:solidFill>
                  <a:srgbClr val="1F2933"/>
                </a:solidFill>
                <a:latin typeface="Microsoft YaHei" pitchFamily="34" charset="0"/>
                <a:ea typeface="Microsoft YaHei" pitchFamily="34" charset="-122"/>
                <a:cs typeface="Microsoft YaHei" pitchFamily="34" charset="-120"/>
              </a:rPr>
              <a:t>Tilted and overlapping arrows do not fit a fixed offset</a:t>
            </a:r>
            <a:endParaRPr lang="en-US" sz="1200" dirty="0"/>
          </a:p>
        </p:txBody>
      </p:sp>
      <p:sp>
        <p:nvSpPr>
          <p:cNvPr id="18" name="Shape 14"/>
          <p:cNvSpPr/>
          <p:nvPr/>
        </p:nvSpPr>
        <p:spPr>
          <a:xfrm>
            <a:off x="5166360" y="3520440"/>
            <a:ext cx="3520440" cy="685800"/>
          </a:xfrm>
          <a:prstGeom prst="rect">
            <a:avLst/>
          </a:prstGeom>
          <a:solidFill>
            <a:srgbClr val="14213D"/>
          </a:solidFill>
          <a:ln w="9525">
            <a:solidFill>
              <a:srgbClr val="14213D"/>
            </a:solidFill>
            <a:prstDash val="solid"/>
          </a:ln>
        </p:spPr>
        <p:txBody>
          <a:bodyPr/>
          <a:lstStyle/>
          <a:p>
            <a:endParaRPr lang="en-CN"/>
          </a:p>
        </p:txBody>
      </p:sp>
      <p:sp>
        <p:nvSpPr>
          <p:cNvPr id="19" name="Text 15"/>
          <p:cNvSpPr/>
          <p:nvPr/>
        </p:nvSpPr>
        <p:spPr>
          <a:xfrm>
            <a:off x="5303520" y="3520440"/>
            <a:ext cx="3291840" cy="685800"/>
          </a:xfrm>
          <a:prstGeom prst="rect">
            <a:avLst/>
          </a:prstGeom>
          <a:noFill/>
          <a:ln/>
        </p:spPr>
        <p:txBody>
          <a:bodyPr wrap="square" lIns="0" tIns="0" rIns="0" bIns="0" rtlCol="0" anchor="ctr">
            <a:normAutofit fontScale="40716"/>
          </a:bodyP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New task: locate the entry-point where the arrow shaft enters the target face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Research Questions and Technical Roadmap</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Text 6"/>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9" name="Text 7"/>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0" name="Text 8"/>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4</a:t>
            </a:r>
            <a:endParaRPr lang="en-US" sz="900" dirty="0"/>
          </a:p>
        </p:txBody>
      </p:sp>
      <p:sp>
        <p:nvSpPr>
          <p:cNvPr id="12" name="Shape 9"/>
          <p:cNvSpPr/>
          <p:nvPr/>
        </p:nvSpPr>
        <p:spPr>
          <a:xfrm>
            <a:off x="457200" y="914400"/>
            <a:ext cx="8229600" cy="685800"/>
          </a:xfrm>
          <a:prstGeom prst="rect">
            <a:avLst/>
          </a:prstGeom>
          <a:solidFill>
            <a:srgbClr val="FFFFFF"/>
          </a:solidFill>
          <a:ln w="9525">
            <a:solidFill>
              <a:srgbClr val="E3DCCB"/>
            </a:solidFill>
            <a:prstDash val="solid"/>
          </a:ln>
        </p:spPr>
        <p:txBody>
          <a:bodyPr/>
          <a:lstStyle/>
          <a:p>
            <a:endParaRPr lang="en-CN"/>
          </a:p>
        </p:txBody>
      </p:sp>
      <p:sp>
        <p:nvSpPr>
          <p:cNvPr id="13" name="Text 10"/>
          <p:cNvSpPr/>
          <p:nvPr/>
        </p:nvSpPr>
        <p:spPr>
          <a:xfrm>
            <a:off x="640080" y="914400"/>
            <a:ext cx="7863840" cy="685800"/>
          </a:xfrm>
          <a:prstGeom prst="rect">
            <a:avLst/>
          </a:prstGeom>
          <a:noFill/>
          <a:ln/>
        </p:spPr>
        <p:txBody>
          <a:bodyPr wrap="square" lIns="0" tIns="0" rIns="0" bIns="0" rtlCol="0" anchor="ctr">
            <a:normAutofit fontScale="58065"/>
          </a:bodyPr>
          <a:lstStyle/>
          <a:p>
            <a:pPr marL="0" indent="0">
              <a:buNone/>
            </a:pPr>
            <a:r>
              <a:rPr lang="en-US" sz="1300" b="1" dirty="0">
                <a:solidFill>
                  <a:srgbClr val="14213D"/>
                </a:solidFill>
                <a:latin typeface="Microsoft YaHei" pitchFamily="34" charset="0"/>
                <a:ea typeface="Microsoft YaHei" pitchFamily="34" charset="-122"/>
                <a:cs typeface="Microsoft YaHei" pitchFamily="34" charset="-120"/>
              </a:rPr>
              <a:t>Three questions: How to annotate reliably?　How to train and evaluate the localization model?　How to convert entry-points into scores?</a:t>
            </a:r>
            <a:endParaRPr lang="en-US" sz="1300" dirty="0"/>
          </a:p>
        </p:txBody>
      </p:sp>
      <p:sp>
        <p:nvSpPr>
          <p:cNvPr id="14" name="Shape 11"/>
          <p:cNvSpPr/>
          <p:nvPr/>
        </p:nvSpPr>
        <p:spPr>
          <a:xfrm>
            <a:off x="457200" y="1874520"/>
            <a:ext cx="1920240" cy="2560320"/>
          </a:xfrm>
          <a:prstGeom prst="rect">
            <a:avLst/>
          </a:prstGeom>
          <a:solidFill>
            <a:srgbClr val="FFFFFF"/>
          </a:solidFill>
          <a:ln w="9525">
            <a:solidFill>
              <a:srgbClr val="E3DCCB"/>
            </a:solidFill>
            <a:prstDash val="solid"/>
          </a:ln>
        </p:spPr>
        <p:txBody>
          <a:bodyPr/>
          <a:lstStyle/>
          <a:p>
            <a:endParaRPr lang="en-CN"/>
          </a:p>
        </p:txBody>
      </p:sp>
      <p:sp>
        <p:nvSpPr>
          <p:cNvPr id="15" name="Shape 12"/>
          <p:cNvSpPr/>
          <p:nvPr/>
        </p:nvSpPr>
        <p:spPr>
          <a:xfrm>
            <a:off x="457200" y="1874520"/>
            <a:ext cx="1920240" cy="502920"/>
          </a:xfrm>
          <a:prstGeom prst="rect">
            <a:avLst/>
          </a:prstGeom>
          <a:solidFill>
            <a:srgbClr val="1F6FB2"/>
          </a:solidFill>
          <a:ln w="9525">
            <a:solidFill>
              <a:srgbClr val="1F6FB2"/>
            </a:solidFill>
            <a:prstDash val="solid"/>
          </a:ln>
        </p:spPr>
        <p:txBody>
          <a:bodyPr/>
          <a:lstStyle/>
          <a:p>
            <a:endParaRPr lang="en-CN"/>
          </a:p>
        </p:txBody>
      </p:sp>
      <p:sp>
        <p:nvSpPr>
          <p:cNvPr id="16" name="Text 13"/>
          <p:cNvSpPr/>
          <p:nvPr/>
        </p:nvSpPr>
        <p:spPr>
          <a:xfrm>
            <a:off x="566928" y="1874520"/>
            <a:ext cx="1737360" cy="502920"/>
          </a:xfrm>
          <a:prstGeom prst="rect">
            <a:avLst/>
          </a:prstGeom>
          <a:noFill/>
          <a:ln/>
        </p:spPr>
        <p:txBody>
          <a:bodyPr wrap="square" lIns="0" tIns="0" rIns="0" bIns="0" rtlCol="0" anchor="ctr">
            <a:normAutofit fontScale="58065"/>
          </a:bodyPr>
          <a:lstStyle/>
          <a:p>
            <a:pPr marL="0" indent="0">
              <a:buNone/>
            </a:pPr>
            <a:r>
              <a:rPr lang="en-US" sz="1300" b="1" dirty="0">
                <a:solidFill>
                  <a:srgbClr val="FFFFFF"/>
                </a:solidFill>
                <a:latin typeface="Microsoft YaHei" pitchFamily="34" charset="0"/>
                <a:ea typeface="Microsoft YaHei" pitchFamily="34" charset="-122"/>
                <a:cs typeface="Microsoft YaHei" pitchFamily="34" charset="-120"/>
              </a:rPr>
              <a:t>1  Data and Annotation</a:t>
            </a:r>
            <a:endParaRPr lang="en-US" sz="1300" dirty="0"/>
          </a:p>
        </p:txBody>
      </p:sp>
      <p:sp>
        <p:nvSpPr>
          <p:cNvPr id="17" name="Text 14"/>
          <p:cNvSpPr/>
          <p:nvPr/>
        </p:nvSpPr>
        <p:spPr>
          <a:xfrm>
            <a:off x="594360" y="2560320"/>
            <a:ext cx="1691640" cy="1737360"/>
          </a:xfrm>
          <a:prstGeom prst="rect">
            <a:avLst/>
          </a:prstGeom>
          <a:noFill/>
          <a:ln/>
        </p:spPr>
        <p:txBody>
          <a:bodyPr wrap="square" lIns="0" tIns="0" rIns="0" bIns="0" rtlCol="0" anchor="t">
            <a:normAutofit fontScale="58757"/>
          </a:bodyPr>
          <a:lstStyle/>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Manual annotation as the basis</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Reviewed and supplemented by a large model</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116 photos</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829 reference points</a:t>
            </a:r>
            <a:endParaRPr lang="en-US" sz="1200" dirty="0"/>
          </a:p>
        </p:txBody>
      </p:sp>
      <p:sp>
        <p:nvSpPr>
          <p:cNvPr id="18" name="Shape 15"/>
          <p:cNvSpPr/>
          <p:nvPr/>
        </p:nvSpPr>
        <p:spPr>
          <a:xfrm>
            <a:off x="2560320" y="1874520"/>
            <a:ext cx="1920240" cy="2560320"/>
          </a:xfrm>
          <a:prstGeom prst="rect">
            <a:avLst/>
          </a:prstGeom>
          <a:solidFill>
            <a:srgbClr val="FFFFFF"/>
          </a:solidFill>
          <a:ln w="9525">
            <a:solidFill>
              <a:srgbClr val="E3DCCB"/>
            </a:solidFill>
            <a:prstDash val="solid"/>
          </a:ln>
        </p:spPr>
        <p:txBody>
          <a:bodyPr/>
          <a:lstStyle/>
          <a:p>
            <a:endParaRPr lang="en-CN"/>
          </a:p>
        </p:txBody>
      </p:sp>
      <p:sp>
        <p:nvSpPr>
          <p:cNvPr id="19" name="Shape 16"/>
          <p:cNvSpPr/>
          <p:nvPr/>
        </p:nvSpPr>
        <p:spPr>
          <a:xfrm>
            <a:off x="2560320" y="1874520"/>
            <a:ext cx="1920240" cy="502920"/>
          </a:xfrm>
          <a:prstGeom prst="rect">
            <a:avLst/>
          </a:prstGeom>
          <a:solidFill>
            <a:srgbClr val="D62839"/>
          </a:solidFill>
          <a:ln w="9525">
            <a:solidFill>
              <a:srgbClr val="D62839"/>
            </a:solidFill>
            <a:prstDash val="solid"/>
          </a:ln>
        </p:spPr>
        <p:txBody>
          <a:bodyPr/>
          <a:lstStyle/>
          <a:p>
            <a:endParaRPr lang="en-CN"/>
          </a:p>
        </p:txBody>
      </p:sp>
      <p:sp>
        <p:nvSpPr>
          <p:cNvPr id="20" name="Text 17"/>
          <p:cNvSpPr/>
          <p:nvPr/>
        </p:nvSpPr>
        <p:spPr>
          <a:xfrm>
            <a:off x="2670048" y="1874520"/>
            <a:ext cx="1737360" cy="502920"/>
          </a:xfrm>
          <a:prstGeom prst="rect">
            <a:avLst/>
          </a:prstGeom>
          <a:noFill/>
          <a:ln/>
        </p:spPr>
        <p:txBody>
          <a:bodyPr wrap="square" lIns="0" tIns="0" rIns="0" bIns="0" rtlCol="0" anchor="ctr">
            <a:normAutofit fontScale="90854"/>
          </a:bodyPr>
          <a:lstStyle/>
          <a:p>
            <a:pPr marL="0" indent="0">
              <a:buNone/>
            </a:pPr>
            <a:r>
              <a:rPr lang="en-US" sz="1300" b="1" dirty="0">
                <a:solidFill>
                  <a:srgbClr val="FFFFFF"/>
                </a:solidFill>
                <a:latin typeface="Microsoft YaHei" pitchFamily="34" charset="0"/>
                <a:ea typeface="Microsoft YaHei" pitchFamily="34" charset="-122"/>
                <a:cs typeface="Microsoft YaHei" pitchFamily="34" charset="-120"/>
              </a:rPr>
              <a:t>2  Heatmap Model</a:t>
            </a:r>
            <a:endParaRPr lang="en-US" sz="1300" dirty="0"/>
          </a:p>
        </p:txBody>
      </p:sp>
      <p:sp>
        <p:nvSpPr>
          <p:cNvPr id="21" name="Text 18"/>
          <p:cNvSpPr/>
          <p:nvPr/>
        </p:nvSpPr>
        <p:spPr>
          <a:xfrm>
            <a:off x="2697480" y="2560320"/>
            <a:ext cx="1691640" cy="1737360"/>
          </a:xfrm>
          <a:prstGeom prst="rect">
            <a:avLst/>
          </a:prstGeom>
          <a:noFill/>
          <a:ln/>
        </p:spPr>
        <p:txBody>
          <a:bodyPr wrap="square" lIns="0" tIns="0" rIns="0" bIns="0" rtlCol="0" anchor="t">
            <a:normAutofit fontScale="40297"/>
          </a:bodyPr>
          <a:lstStyle/>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Trained from scratch</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Background padding, augmentation, and a verifier</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Improved step by step</a:t>
            </a:r>
            <a:endParaRPr lang="en-US" sz="1200" dirty="0"/>
          </a:p>
        </p:txBody>
      </p:sp>
      <p:sp>
        <p:nvSpPr>
          <p:cNvPr id="22" name="Shape 19"/>
          <p:cNvSpPr/>
          <p:nvPr/>
        </p:nvSpPr>
        <p:spPr>
          <a:xfrm>
            <a:off x="4663440" y="1874520"/>
            <a:ext cx="1920240" cy="2560320"/>
          </a:xfrm>
          <a:prstGeom prst="rect">
            <a:avLst/>
          </a:prstGeom>
          <a:solidFill>
            <a:srgbClr val="FFFFFF"/>
          </a:solidFill>
          <a:ln w="9525">
            <a:solidFill>
              <a:srgbClr val="E3DCCB"/>
            </a:solidFill>
            <a:prstDash val="solid"/>
          </a:ln>
        </p:spPr>
        <p:txBody>
          <a:bodyPr/>
          <a:lstStyle/>
          <a:p>
            <a:endParaRPr lang="en-CN"/>
          </a:p>
        </p:txBody>
      </p:sp>
      <p:sp>
        <p:nvSpPr>
          <p:cNvPr id="23" name="Shape 20"/>
          <p:cNvSpPr/>
          <p:nvPr/>
        </p:nvSpPr>
        <p:spPr>
          <a:xfrm>
            <a:off x="4663440" y="1874520"/>
            <a:ext cx="1920240" cy="502920"/>
          </a:xfrm>
          <a:prstGeom prst="rect">
            <a:avLst/>
          </a:prstGeom>
          <a:solidFill>
            <a:srgbClr val="B88A00"/>
          </a:solidFill>
          <a:ln w="9525">
            <a:solidFill>
              <a:srgbClr val="B88A00"/>
            </a:solidFill>
            <a:prstDash val="solid"/>
          </a:ln>
        </p:spPr>
        <p:txBody>
          <a:bodyPr/>
          <a:lstStyle/>
          <a:p>
            <a:endParaRPr lang="en-CN"/>
          </a:p>
        </p:txBody>
      </p:sp>
      <p:sp>
        <p:nvSpPr>
          <p:cNvPr id="24" name="Text 21"/>
          <p:cNvSpPr/>
          <p:nvPr/>
        </p:nvSpPr>
        <p:spPr>
          <a:xfrm>
            <a:off x="4773168" y="1874520"/>
            <a:ext cx="1737360" cy="502920"/>
          </a:xfrm>
          <a:prstGeom prst="rect">
            <a:avLst/>
          </a:prstGeom>
          <a:noFill/>
          <a:ln/>
        </p:spPr>
        <p:txBody>
          <a:bodyPr wrap="square" lIns="0" tIns="0" rIns="0" bIns="0" rtlCol="0" anchor="ctr">
            <a:normAutofit fontScale="58065"/>
          </a:bodyPr>
          <a:lstStyle/>
          <a:p>
            <a:pPr marL="0" indent="0">
              <a:buNone/>
            </a:pPr>
            <a:r>
              <a:rPr lang="en-US" sz="1300" b="1" dirty="0">
                <a:solidFill>
                  <a:srgbClr val="FFFFFF"/>
                </a:solidFill>
                <a:latin typeface="Microsoft YaHei" pitchFamily="34" charset="0"/>
                <a:ea typeface="Microsoft YaHei" pitchFamily="34" charset="-122"/>
                <a:cs typeface="Microsoft YaHei" pitchFamily="34" charset="-120"/>
              </a:rPr>
              <a:t>3  YOLO-NAS Baseline</a:t>
            </a:r>
            <a:endParaRPr lang="en-US" sz="1300" dirty="0"/>
          </a:p>
        </p:txBody>
      </p:sp>
      <p:sp>
        <p:nvSpPr>
          <p:cNvPr id="25" name="Text 22"/>
          <p:cNvSpPr/>
          <p:nvPr/>
        </p:nvSpPr>
        <p:spPr>
          <a:xfrm>
            <a:off x="4800600" y="2560320"/>
            <a:ext cx="1691640" cy="1737360"/>
          </a:xfrm>
          <a:prstGeom prst="rect">
            <a:avLst/>
          </a:prstGeom>
          <a:noFill/>
          <a:ln/>
        </p:spPr>
        <p:txBody>
          <a:bodyPr wrap="square" lIns="0" tIns="0" rIns="0" bIns="0" rtlCol="0" anchor="t">
            <a:normAutofit fontScale="45676"/>
          </a:bodyPr>
          <a:lstStyle/>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Off-the-shelf model rebuilt as a trainable network</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Compared on the same images</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Two rounds of fine-tuning</a:t>
            </a:r>
            <a:endParaRPr lang="en-US" sz="1200" dirty="0"/>
          </a:p>
        </p:txBody>
      </p:sp>
      <p:sp>
        <p:nvSpPr>
          <p:cNvPr id="26" name="Shape 23"/>
          <p:cNvSpPr/>
          <p:nvPr/>
        </p:nvSpPr>
        <p:spPr>
          <a:xfrm>
            <a:off x="6766560" y="1874520"/>
            <a:ext cx="1920240" cy="2560320"/>
          </a:xfrm>
          <a:prstGeom prst="rect">
            <a:avLst/>
          </a:prstGeom>
          <a:solidFill>
            <a:srgbClr val="FFFFFF"/>
          </a:solidFill>
          <a:ln w="9525">
            <a:solidFill>
              <a:srgbClr val="E3DCCB"/>
            </a:solidFill>
            <a:prstDash val="solid"/>
          </a:ln>
        </p:spPr>
        <p:txBody>
          <a:bodyPr/>
          <a:lstStyle/>
          <a:p>
            <a:endParaRPr lang="en-CN"/>
          </a:p>
        </p:txBody>
      </p:sp>
      <p:sp>
        <p:nvSpPr>
          <p:cNvPr id="27" name="Shape 24"/>
          <p:cNvSpPr/>
          <p:nvPr/>
        </p:nvSpPr>
        <p:spPr>
          <a:xfrm>
            <a:off x="6766560" y="1874520"/>
            <a:ext cx="1920240" cy="502920"/>
          </a:xfrm>
          <a:prstGeom prst="rect">
            <a:avLst/>
          </a:prstGeom>
          <a:solidFill>
            <a:srgbClr val="14213D"/>
          </a:solidFill>
          <a:ln w="9525">
            <a:solidFill>
              <a:srgbClr val="14213D"/>
            </a:solidFill>
            <a:prstDash val="solid"/>
          </a:ln>
        </p:spPr>
        <p:txBody>
          <a:bodyPr/>
          <a:lstStyle/>
          <a:p>
            <a:endParaRPr lang="en-CN"/>
          </a:p>
        </p:txBody>
      </p:sp>
      <p:sp>
        <p:nvSpPr>
          <p:cNvPr id="28" name="Text 25"/>
          <p:cNvSpPr/>
          <p:nvPr/>
        </p:nvSpPr>
        <p:spPr>
          <a:xfrm>
            <a:off x="6876288" y="1874520"/>
            <a:ext cx="1737360" cy="502920"/>
          </a:xfrm>
          <a:prstGeom prst="rect">
            <a:avLst/>
          </a:prstGeom>
          <a:noFill/>
          <a:ln/>
        </p:spPr>
        <p:txBody>
          <a:bodyPr wrap="square" lIns="0" tIns="0" rIns="0" bIns="0" rtlCol="0" anchor="ctr">
            <a:normAutofit fontScale="58065"/>
          </a:bodyPr>
          <a:lstStyle/>
          <a:p>
            <a:pPr marL="0" indent="0">
              <a:buNone/>
            </a:pPr>
            <a:r>
              <a:rPr lang="en-US" sz="1300" b="1" dirty="0">
                <a:solidFill>
                  <a:srgbClr val="FFFFFF"/>
                </a:solidFill>
                <a:latin typeface="Microsoft YaHei" pitchFamily="34" charset="0"/>
                <a:ea typeface="Microsoft YaHei" pitchFamily="34" charset="-122"/>
                <a:cs typeface="Microsoft YaHei" pitchFamily="34" charset="-120"/>
              </a:rPr>
              <a:t>4  Automatic Scoring</a:t>
            </a:r>
            <a:endParaRPr lang="en-US" sz="1300" dirty="0"/>
          </a:p>
        </p:txBody>
      </p:sp>
      <p:sp>
        <p:nvSpPr>
          <p:cNvPr id="29" name="Text 26"/>
          <p:cNvSpPr/>
          <p:nvPr/>
        </p:nvSpPr>
        <p:spPr>
          <a:xfrm>
            <a:off x="6903720" y="2560320"/>
            <a:ext cx="1691640" cy="1737360"/>
          </a:xfrm>
          <a:prstGeom prst="rect">
            <a:avLst/>
          </a:prstGeom>
          <a:noFill/>
          <a:ln/>
        </p:spPr>
        <p:txBody>
          <a:bodyPr wrap="square" lIns="0" tIns="0" rIns="0" bIns="0" rtlCol="0" anchor="t">
            <a:normAutofit fontScale="52712"/>
          </a:bodyPr>
          <a:lstStyle/>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Target-face calibration</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Scores computed geometrically</a:t>
            </a:r>
            <a:endParaRPr lang="en-US" sz="1200" dirty="0"/>
          </a:p>
          <a:p>
            <a:pPr marL="0" indent="0">
              <a:spcAft>
                <a:spcPts val="600"/>
              </a:spcAft>
              <a:buNone/>
            </a:pPr>
            <a:r>
              <a:rPr lang="en-US" sz="1200" dirty="0">
                <a:solidFill>
                  <a:srgbClr val="1F2933"/>
                </a:solidFill>
                <a:latin typeface="Microsoft YaHei" pitchFamily="34" charset="0"/>
                <a:ea typeface="Microsoft YaHei" pitchFamily="34" charset="-122"/>
                <a:cs typeface="Microsoft YaHei" pitchFamily="34" charset="-120"/>
              </a:rPr>
              <a:t>Manually verified before storing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9433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Data: Getting the "Answers" Right First</a:t>
            </a:r>
            <a:endParaRPr lang="en-US" sz="2200" dirty="0"/>
          </a:p>
        </p:txBody>
      </p:sp>
      <p:sp>
        <p:nvSpPr>
          <p:cNvPr id="6" name="Shape 4"/>
          <p:cNvSpPr/>
          <p:nvPr/>
        </p:nvSpPr>
        <p:spPr>
          <a:xfrm>
            <a:off x="6967728"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7" name="Text 5"/>
          <p:cNvSpPr/>
          <p:nvPr/>
        </p:nvSpPr>
        <p:spPr>
          <a:xfrm>
            <a:off x="6967728" y="329184"/>
            <a:ext cx="402336" cy="256032"/>
          </a:xfrm>
          <a:prstGeom prst="rect">
            <a:avLst/>
          </a:prstGeom>
          <a:noFill/>
          <a:ln/>
        </p:spPr>
        <p:txBody>
          <a:bodyPr wrap="square" lIns="0" tIns="0" rIns="0" bIns="0" rtlCol="0" anchor="ctr">
            <a:normAutofit fontScale="65482"/>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Data</a:t>
            </a:r>
            <a:endParaRPr lang="en-US" sz="1000" dirty="0"/>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5</a:t>
            </a:r>
            <a:endParaRPr lang="en-US" sz="900" dirty="0"/>
          </a:p>
        </p:txBody>
      </p:sp>
      <p:sp>
        <p:nvSpPr>
          <p:cNvPr id="13" name="Text 10"/>
          <p:cNvSpPr/>
          <p:nvPr/>
        </p:nvSpPr>
        <p:spPr>
          <a:xfrm>
            <a:off x="457200" y="960120"/>
            <a:ext cx="3291840" cy="640080"/>
          </a:xfrm>
          <a:prstGeom prst="rect">
            <a:avLst/>
          </a:prstGeom>
          <a:noFill/>
          <a:ln/>
        </p:spPr>
        <p:txBody>
          <a:bodyPr wrap="square" lIns="0" tIns="0" rIns="0" bIns="0" rtlCol="0" anchor="ctr">
            <a:normAutofit/>
          </a:bodyPr>
          <a:lstStyle/>
          <a:p>
            <a:pPr marL="0" indent="0">
              <a:buNone/>
            </a:pPr>
            <a:r>
              <a:rPr lang="en-US" sz="3800" b="1" dirty="0">
                <a:solidFill>
                  <a:srgbClr val="14213D"/>
                </a:solidFill>
                <a:latin typeface="Microsoft YaHei" pitchFamily="34" charset="0"/>
                <a:ea typeface="Microsoft YaHei" pitchFamily="34" charset="-122"/>
                <a:cs typeface="Microsoft YaHei" pitchFamily="34" charset="-120"/>
              </a:rPr>
              <a:t>205 → 172</a:t>
            </a:r>
            <a:endParaRPr lang="en-US" sz="3800" dirty="0"/>
          </a:p>
        </p:txBody>
      </p:sp>
      <p:sp>
        <p:nvSpPr>
          <p:cNvPr id="14" name="Text 11"/>
          <p:cNvSpPr/>
          <p:nvPr/>
        </p:nvSpPr>
        <p:spPr>
          <a:xfrm>
            <a:off x="457200" y="1645920"/>
            <a:ext cx="3291840" cy="274320"/>
          </a:xfrm>
          <a:prstGeom prst="rect">
            <a:avLst/>
          </a:prstGeom>
          <a:noFill/>
          <a:ln/>
        </p:spPr>
        <p:txBody>
          <a:bodyPr wrap="square" lIns="0" tIns="0" rIns="0" bIns="0" rtlCol="0" anchor="t">
            <a:normAutofit fontScale="58671"/>
          </a:bodyPr>
          <a:lstStyle/>
          <a:p>
            <a:pPr marL="0" indent="0">
              <a:buNone/>
            </a:pPr>
            <a:r>
              <a:rPr lang="en-US" altLang="zh-CN" sz="1200" dirty="0">
                <a:solidFill>
                  <a:srgbClr val="6B7280"/>
                </a:solidFill>
                <a:latin typeface="Microsoft YaHei" pitchFamily="34" charset="0"/>
                <a:ea typeface="Microsoft YaHei" pitchFamily="34" charset="-122"/>
                <a:cs typeface="Microsoft YaHei" pitchFamily="34" charset="-120"/>
              </a:rPr>
              <a:t>205 image files, only 172 distinct photos after deduplication</a:t>
            </a:r>
            <a:endParaRPr lang="en-US" sz="1200" dirty="0"/>
          </a:p>
        </p:txBody>
      </p:sp>
      <p:sp>
        <p:nvSpPr>
          <p:cNvPr id="15" name="Text 12"/>
          <p:cNvSpPr/>
          <p:nvPr/>
        </p:nvSpPr>
        <p:spPr>
          <a:xfrm>
            <a:off x="457200" y="2286000"/>
            <a:ext cx="3291840" cy="292608"/>
          </a:xfrm>
          <a:prstGeom prst="rect">
            <a:avLst/>
          </a:prstGeom>
          <a:noFill/>
          <a:ln/>
        </p:spPr>
        <p:txBody>
          <a:bodyPr wrap="square" lIns="0" tIns="0" rIns="0" bIns="0" rtlCol="0" anchor="t">
            <a:normAutofit fontScale="57055"/>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Photos with arrows but incomplete labels</a:t>
            </a:r>
            <a:endParaRPr lang="en-US" sz="1500" dirty="0"/>
          </a:p>
        </p:txBody>
      </p:sp>
      <p:sp>
        <p:nvSpPr>
          <p:cNvPr id="16" name="Text 13"/>
          <p:cNvSpPr/>
          <p:nvPr/>
        </p:nvSpPr>
        <p:spPr>
          <a:xfrm>
            <a:off x="457200" y="2606040"/>
            <a:ext cx="3291840" cy="274320"/>
          </a:xfrm>
          <a:prstGeom prst="rect">
            <a:avLst/>
          </a:prstGeom>
          <a:noFill/>
          <a:ln/>
        </p:spPr>
        <p:txBody>
          <a:bodyPr wrap="square" lIns="0" tIns="0" rIns="0" bIns="0" rtlCol="0" anchor="t">
            <a:normAutofit fontScale="58671"/>
          </a:bodyP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They cannot be treated as empty targets, or the model learns wrong answers</a:t>
            </a:r>
            <a:endParaRPr lang="en-US" sz="1200" dirty="0"/>
          </a:p>
        </p:txBody>
      </p:sp>
      <p:sp>
        <p:nvSpPr>
          <p:cNvPr id="17" name="Text 14"/>
          <p:cNvSpPr/>
          <p:nvPr/>
        </p:nvSpPr>
        <p:spPr>
          <a:xfrm>
            <a:off x="457200" y="3154680"/>
            <a:ext cx="3291840" cy="292608"/>
          </a:xfrm>
          <a:prstGeom prst="rect">
            <a:avLst/>
          </a:prstGeom>
          <a:noFill/>
          <a:ln/>
        </p:spPr>
        <p:txBody>
          <a:bodyPr wrap="square" lIns="0" tIns="0" rIns="0" bIns="0" rtlCol="0" anchor="t">
            <a:normAutofit fontScale="57055"/>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Two labels pointing to the same arrow</a:t>
            </a:r>
            <a:endParaRPr lang="en-US" sz="1500" dirty="0"/>
          </a:p>
        </p:txBody>
      </p:sp>
      <p:sp>
        <p:nvSpPr>
          <p:cNvPr id="18" name="Text 15"/>
          <p:cNvSpPr/>
          <p:nvPr/>
        </p:nvSpPr>
        <p:spPr>
          <a:xfrm>
            <a:off x="457200" y="3474720"/>
            <a:ext cx="3291840" cy="274320"/>
          </a:xfrm>
          <a:prstGeom prst="rect">
            <a:avLst/>
          </a:prstGeom>
          <a:noFill/>
          <a:ln/>
        </p:spPr>
        <p:txBody>
          <a:bodyPr wrap="square" lIns="0" tIns="0" rIns="0" bIns="0" rtlCol="0" anchor="t">
            <a:normAutofit fontScale="58671"/>
          </a:bodyP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They must be merged, or one arrow is counted twice</a:t>
            </a:r>
            <a:endParaRPr lang="en-US" sz="1200" dirty="0"/>
          </a:p>
        </p:txBody>
      </p:sp>
      <p:pic>
        <p:nvPicPr>
          <p:cNvPr id="19" name="Image 0" descr="/Users/xiaolu/source/ArcheryAssistant-Launcher-1.0.0-win64/课题报告/答辩PPT/assets/q04.jpg"/>
          <p:cNvPicPr>
            <a:picLocks noChangeAspect="1"/>
          </p:cNvPicPr>
          <p:nvPr/>
        </p:nvPicPr>
        <p:blipFill>
          <a:blip r:embed="rId3"/>
          <a:stretch>
            <a:fillRect/>
          </a:stretch>
        </p:blipFill>
        <p:spPr>
          <a:xfrm>
            <a:off x="4023360" y="1005840"/>
            <a:ext cx="4663440" cy="1490472"/>
          </a:xfrm>
          <a:prstGeom prst="rect">
            <a:avLst/>
          </a:prstGeom>
        </p:spPr>
      </p:pic>
      <p:sp>
        <p:nvSpPr>
          <p:cNvPr id="20" name="Text 16"/>
          <p:cNvSpPr/>
          <p:nvPr/>
        </p:nvSpPr>
        <p:spPr>
          <a:xfrm>
            <a:off x="4023360" y="2560320"/>
            <a:ext cx="4663440" cy="274320"/>
          </a:xfrm>
          <a:prstGeom prst="rect">
            <a:avLst/>
          </a:prstGeom>
          <a:noFill/>
          <a:ln/>
        </p:spPr>
        <p:txBody>
          <a:bodyPr wrap="square" lIns="0" tIns="0" rIns="0" bIns="0" rtlCol="0" anchor="t">
            <a:normAutofit fontScale="60165"/>
          </a:bodyPr>
          <a:lstStyle/>
          <a:p>
            <a:pPr marL="0" indent="0">
              <a:buNone/>
            </a:pPr>
            <a:r>
              <a:rPr lang="en-US" sz="1000" dirty="0">
                <a:solidFill>
                  <a:srgbClr val="6B7280"/>
                </a:solidFill>
                <a:latin typeface="Microsoft YaHei" pitchFamily="34" charset="0"/>
                <a:ea typeface="Microsoft YaHei" pitchFamily="34" charset="-122"/>
                <a:cs typeface="Microsoft YaHei" pitchFamily="34" charset="-120"/>
              </a:rPr>
              <a:t>Two annotations of the same black arrow (A50 and B554 are label IDs), about 38 pixels apart</a:t>
            </a:r>
            <a:endParaRPr lang="en-US" sz="1000" dirty="0"/>
          </a:p>
        </p:txBody>
      </p:sp>
      <p:sp>
        <p:nvSpPr>
          <p:cNvPr id="21" name="Shape 17"/>
          <p:cNvSpPr/>
          <p:nvPr/>
        </p:nvSpPr>
        <p:spPr>
          <a:xfrm>
            <a:off x="4023360" y="3063240"/>
            <a:ext cx="4663440" cy="1188720"/>
          </a:xfrm>
          <a:prstGeom prst="rect">
            <a:avLst/>
          </a:prstGeom>
          <a:solidFill>
            <a:srgbClr val="FFFFFF"/>
          </a:solidFill>
          <a:ln w="9525">
            <a:solidFill>
              <a:srgbClr val="E3DCCB"/>
            </a:solidFill>
            <a:prstDash val="solid"/>
          </a:ln>
        </p:spPr>
        <p:txBody>
          <a:bodyPr/>
          <a:lstStyle/>
          <a:p>
            <a:endParaRPr lang="en-CN"/>
          </a:p>
        </p:txBody>
      </p:sp>
      <p:sp>
        <p:nvSpPr>
          <p:cNvPr id="22" name="Shape 18"/>
          <p:cNvSpPr/>
          <p:nvPr/>
        </p:nvSpPr>
        <p:spPr>
          <a:xfrm>
            <a:off x="4023360" y="3063240"/>
            <a:ext cx="64008" cy="1188720"/>
          </a:xfrm>
          <a:prstGeom prst="rect">
            <a:avLst/>
          </a:prstGeom>
          <a:solidFill>
            <a:srgbClr val="F2B705"/>
          </a:solidFill>
          <a:ln w="9525">
            <a:solidFill>
              <a:srgbClr val="F2B705"/>
            </a:solidFill>
            <a:prstDash val="solid"/>
          </a:ln>
        </p:spPr>
        <p:txBody>
          <a:bodyPr/>
          <a:lstStyle/>
          <a:p>
            <a:endParaRPr lang="en-CN"/>
          </a:p>
        </p:txBody>
      </p:sp>
      <p:sp>
        <p:nvSpPr>
          <p:cNvPr id="23" name="Text 19"/>
          <p:cNvSpPr/>
          <p:nvPr/>
        </p:nvSpPr>
        <p:spPr>
          <a:xfrm>
            <a:off x="4251960" y="3063240"/>
            <a:ext cx="4297680" cy="1188720"/>
          </a:xfrm>
          <a:prstGeom prst="rect">
            <a:avLst/>
          </a:prstGeom>
          <a:noFill/>
          <a:ln/>
        </p:spPr>
        <p:txBody>
          <a:bodyPr wrap="square" lIns="0" tIns="0" rIns="0" bIns="0" rtlCol="0" anchor="ctr">
            <a:normAutofit fontScale="44094"/>
          </a:bodyPr>
          <a:lstStyle/>
          <a:p>
            <a:pPr marL="0" indent="0">
              <a:spcAft>
                <a:spcPts val="600"/>
              </a:spcAft>
              <a:buNone/>
            </a:pPr>
            <a:r>
              <a:rPr lang="en-US" sz="1300" b="1" dirty="0">
                <a:solidFill>
                  <a:srgbClr val="14213D"/>
                </a:solidFill>
                <a:latin typeface="Microsoft YaHei" pitchFamily="34" charset="0"/>
                <a:ea typeface="Microsoft YaHei" pitchFamily="34" charset="-122"/>
                <a:cs typeface="Microsoft YaHei" pitchFamily="34" charset="-120"/>
              </a:rPr>
              <a:t>After zooming into the original image and checking item by item, B554 was adopted.</a:t>
            </a:r>
            <a:endParaRPr lang="en-US" sz="1300" dirty="0"/>
          </a:p>
          <a:p>
            <a:pPr marL="0" indent="0">
              <a:spcAft>
                <a:spcPts val="600"/>
              </a:spcAft>
              <a:buNone/>
            </a:pPr>
            <a:r>
              <a:rPr lang="en-US" sz="1300" dirty="0">
                <a:solidFill>
                  <a:srgbClr val="1F2933"/>
                </a:solidFill>
                <a:latin typeface="Microsoft YaHei" pitchFamily="34" charset="0"/>
                <a:ea typeface="Microsoft YaHei" pitchFamily="34" charset="-122"/>
                <a:cs typeface="Microsoft YaHei" pitchFamily="34" charset="-120"/>
              </a:rPr>
              <a:t>Photos are questions, annotations are answers — if the answer is wrong, the model diligently learns the wrong thing.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err="1">
                <a:solidFill>
                  <a:srgbClr val="14213D"/>
                </a:solidFill>
                <a:latin typeface="Microsoft YaHei" pitchFamily="34" charset="0"/>
                <a:ea typeface="Microsoft YaHei" pitchFamily="34" charset="-122"/>
                <a:cs typeface="Microsoft YaHei" pitchFamily="34" charset="-120"/>
              </a:rPr>
              <a:t>Human–AI Collaboration: A Large Model Reviews, Humans Decide</a:t>
            </a:r>
            <a:endParaRPr lang="en-US" sz="2200" dirty="0"/>
          </a:p>
        </p:txBody>
      </p:sp>
      <p:sp>
        <p:nvSpPr>
          <p:cNvPr id="6" name="Shape 4"/>
          <p:cNvSpPr/>
          <p:nvPr/>
        </p:nvSpPr>
        <p:spPr>
          <a:xfrm>
            <a:off x="6967728"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7" name="Text 5"/>
          <p:cNvSpPr/>
          <p:nvPr/>
        </p:nvSpPr>
        <p:spPr>
          <a:xfrm>
            <a:off x="6967728" y="329184"/>
            <a:ext cx="402336" cy="256032"/>
          </a:xfrm>
          <a:prstGeom prst="rect">
            <a:avLst/>
          </a:prstGeom>
          <a:noFill/>
          <a:ln/>
        </p:spPr>
        <p:txBody>
          <a:bodyPr wrap="square" lIns="0" tIns="0" rIns="0" bIns="0" rtlCol="0" anchor="ctr">
            <a:normAutofit fontScale="65482"/>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Data</a:t>
            </a:r>
            <a:endParaRPr lang="en-US" sz="1000" dirty="0"/>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6</a:t>
            </a:r>
            <a:endParaRPr lang="en-US" sz="900" dirty="0"/>
          </a:p>
        </p:txBody>
      </p:sp>
      <p:sp>
        <p:nvSpPr>
          <p:cNvPr id="13" name="Text 10"/>
          <p:cNvSpPr/>
          <p:nvPr/>
        </p:nvSpPr>
        <p:spPr>
          <a:xfrm>
            <a:off x="457200" y="896112"/>
            <a:ext cx="4480560" cy="274320"/>
          </a:xfrm>
          <a:prstGeom prst="rect">
            <a:avLst/>
          </a:prstGeom>
          <a:noFill/>
          <a:ln/>
        </p:spPr>
        <p:txBody>
          <a:bodyPr wrap="square" lIns="0" tIns="0" rIns="0" bIns="0" rtlCol="0" anchor="t">
            <a:normAutofit fontScale="93856"/>
          </a:bodyPr>
          <a:lstStyle/>
          <a:p>
            <a:pPr marL="0" indent="0">
              <a:buNone/>
            </a:pPr>
            <a:r>
              <a:rPr lang="en-US" sz="1200" b="1" dirty="0">
                <a:solidFill>
                  <a:srgbClr val="14213D"/>
                </a:solidFill>
                <a:latin typeface="Microsoft YaHei" pitchFamily="34" charset="0"/>
                <a:ea typeface="Microsoft YaHei" pitchFamily="34" charset="-122"/>
                <a:cs typeface="Microsoft YaHei" pitchFamily="34" charset="-120"/>
              </a:rPr>
              <a:t>Review outcomes for 418 manual labels on 61 photos</a:t>
            </a:r>
            <a:endParaRPr lang="en-US" sz="1200" dirty="0"/>
          </a:p>
        </p:txBody>
      </p:sp>
      <p:graphicFrame>
        <p:nvGraphicFramePr>
          <p:cNvPr id="14" name="Chart 0"/>
          <p:cNvGraphicFramePr/>
          <p:nvPr/>
        </p:nvGraphicFramePr>
        <p:xfrm>
          <a:off x="365760" y="118872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1"/>
          <p:cNvSpPr/>
          <p:nvPr/>
        </p:nvSpPr>
        <p:spPr>
          <a:xfrm>
            <a:off x="457200" y="4023360"/>
            <a:ext cx="4480560" cy="274320"/>
          </a:xfrm>
          <a:prstGeom prst="rect">
            <a:avLst/>
          </a:prstGeom>
          <a:noFill/>
          <a:ln/>
        </p:spPr>
        <p:txBody>
          <a:bodyPr wrap="square" lIns="0" tIns="0" rIns="0" bIns="0" rtlCol="0" anchor="t"/>
          <a:lstStyle/>
          <a:p>
            <a:pPr marL="0" indent="0">
              <a:buNone/>
            </a:pPr>
            <a:r>
              <a:rPr lang="en-US" sz="1300" b="1" dirty="0">
                <a:solidFill>
                  <a:srgbClr val="D62839"/>
                </a:solidFill>
                <a:latin typeface="Microsoft YaHei" pitchFamily="34" charset="0"/>
                <a:ea typeface="Microsoft YaHei" pitchFamily="34" charset="-122"/>
                <a:cs typeface="Microsoft YaHei" pitchFamily="34" charset="-120"/>
              </a:rPr>
              <a:t>Additionally, 28 missed arrows were annotated</a:t>
            </a:r>
            <a:endParaRPr lang="en-US" sz="1300" dirty="0"/>
          </a:p>
        </p:txBody>
      </p:sp>
      <p:sp>
        <p:nvSpPr>
          <p:cNvPr id="16" name="Shape 12"/>
          <p:cNvSpPr/>
          <p:nvPr/>
        </p:nvSpPr>
        <p:spPr>
          <a:xfrm>
            <a:off x="5166360" y="914400"/>
            <a:ext cx="3520440" cy="658368"/>
          </a:xfrm>
          <a:prstGeom prst="rect">
            <a:avLst/>
          </a:prstGeom>
          <a:solidFill>
            <a:srgbClr val="FFFFFF"/>
          </a:solidFill>
          <a:ln w="9525">
            <a:solidFill>
              <a:srgbClr val="E3DCCB"/>
            </a:solidFill>
            <a:prstDash val="solid"/>
          </a:ln>
        </p:spPr>
        <p:txBody>
          <a:bodyPr/>
          <a:lstStyle/>
          <a:p>
            <a:endParaRPr lang="en-CN"/>
          </a:p>
        </p:txBody>
      </p:sp>
      <p:sp>
        <p:nvSpPr>
          <p:cNvPr id="17" name="Shape 13"/>
          <p:cNvSpPr/>
          <p:nvPr/>
        </p:nvSpPr>
        <p:spPr>
          <a:xfrm>
            <a:off x="5166360" y="914400"/>
            <a:ext cx="64008" cy="658368"/>
          </a:xfrm>
          <a:prstGeom prst="rect">
            <a:avLst/>
          </a:prstGeom>
          <a:solidFill>
            <a:srgbClr val="F2B705"/>
          </a:solidFill>
          <a:ln w="9525">
            <a:solidFill>
              <a:srgbClr val="F2B705"/>
            </a:solidFill>
            <a:prstDash val="solid"/>
          </a:ln>
        </p:spPr>
        <p:txBody>
          <a:bodyPr/>
          <a:lstStyle/>
          <a:p>
            <a:endParaRPr lang="en-CN"/>
          </a:p>
        </p:txBody>
      </p:sp>
      <p:sp>
        <p:nvSpPr>
          <p:cNvPr id="18" name="Text 14"/>
          <p:cNvSpPr/>
          <p:nvPr/>
        </p:nvSpPr>
        <p:spPr>
          <a:xfrm>
            <a:off x="5376672" y="987552"/>
            <a:ext cx="3200400" cy="274320"/>
          </a:xfrm>
          <a:prstGeom prst="rect">
            <a:avLst/>
          </a:prstGeom>
          <a:noFill/>
          <a:ln/>
        </p:spPr>
        <p:txBody>
          <a:bodyPr wrap="square" lIns="0" tIns="0" rIns="0" bIns="0" rtlCol="0" anchor="t">
            <a:normAutofit/>
          </a:bodyPr>
          <a:lstStyle/>
          <a:p>
            <a:pPr marL="0" indent="0">
              <a:buNone/>
            </a:pPr>
            <a:r>
              <a:rPr lang="en-US" sz="1300" b="1" dirty="0">
                <a:solidFill>
                  <a:srgbClr val="14213D"/>
                </a:solidFill>
                <a:latin typeface="Microsoft YaHei" pitchFamily="34" charset="0"/>
                <a:ea typeface="Microsoft YaHei" pitchFamily="34" charset="-122"/>
                <a:cs typeface="Microsoft YaHei" pitchFamily="34" charset="-120"/>
              </a:rPr>
              <a:t>Each arrow is counted only once</a:t>
            </a:r>
            <a:endParaRPr lang="en-US" sz="1300" dirty="0"/>
          </a:p>
        </p:txBody>
      </p:sp>
      <p:sp>
        <p:nvSpPr>
          <p:cNvPr id="19" name="Text 15"/>
          <p:cNvSpPr/>
          <p:nvPr/>
        </p:nvSpPr>
        <p:spPr>
          <a:xfrm>
            <a:off x="5376672" y="1280160"/>
            <a:ext cx="3200400" cy="228600"/>
          </a:xfrm>
          <a:prstGeom prst="rect">
            <a:avLst/>
          </a:prstGeom>
          <a:noFill/>
          <a:ln/>
        </p:spPr>
        <p:txBody>
          <a:bodyPr wrap="square" lIns="0" tIns="0" rIns="0" bIns="0" rtlCol="0" anchor="t"/>
          <a:lstStyle/>
          <a:p>
            <a:pPr marL="0" indent="0">
              <a:buNone/>
            </a:pPr>
            <a:r>
              <a:rPr lang="en-US" sz="1050" dirty="0">
                <a:solidFill>
                  <a:srgbClr val="6B7280"/>
                </a:solidFill>
                <a:latin typeface="Microsoft YaHei" pitchFamily="34" charset="0"/>
                <a:ea typeface="Microsoft YaHei" pitchFamily="34" charset="-122"/>
                <a:cs typeface="Microsoft YaHei" pitchFamily="34" charset="-120"/>
              </a:rPr>
              <a:t>Duplicate labels must be merged</a:t>
            </a:r>
            <a:endParaRPr lang="en-US" sz="1050" dirty="0"/>
          </a:p>
        </p:txBody>
      </p:sp>
      <p:sp>
        <p:nvSpPr>
          <p:cNvPr id="20" name="Shape 16"/>
          <p:cNvSpPr/>
          <p:nvPr/>
        </p:nvSpPr>
        <p:spPr>
          <a:xfrm>
            <a:off x="5166360" y="1682496"/>
            <a:ext cx="3520440" cy="658368"/>
          </a:xfrm>
          <a:prstGeom prst="rect">
            <a:avLst/>
          </a:prstGeom>
          <a:solidFill>
            <a:srgbClr val="FFFFFF"/>
          </a:solidFill>
          <a:ln w="9525">
            <a:solidFill>
              <a:srgbClr val="E3DCCB"/>
            </a:solidFill>
            <a:prstDash val="solid"/>
          </a:ln>
        </p:spPr>
        <p:txBody>
          <a:bodyPr/>
          <a:lstStyle/>
          <a:p>
            <a:endParaRPr lang="en-CN"/>
          </a:p>
        </p:txBody>
      </p:sp>
      <p:sp>
        <p:nvSpPr>
          <p:cNvPr id="21" name="Shape 17"/>
          <p:cNvSpPr/>
          <p:nvPr/>
        </p:nvSpPr>
        <p:spPr>
          <a:xfrm>
            <a:off x="5166360" y="1682496"/>
            <a:ext cx="64008" cy="658368"/>
          </a:xfrm>
          <a:prstGeom prst="rect">
            <a:avLst/>
          </a:prstGeom>
          <a:solidFill>
            <a:srgbClr val="F2B705"/>
          </a:solidFill>
          <a:ln w="9525">
            <a:solidFill>
              <a:srgbClr val="F2B705"/>
            </a:solidFill>
            <a:prstDash val="solid"/>
          </a:ln>
        </p:spPr>
        <p:txBody>
          <a:bodyPr/>
          <a:lstStyle/>
          <a:p>
            <a:endParaRPr lang="en-CN"/>
          </a:p>
        </p:txBody>
      </p:sp>
      <p:sp>
        <p:nvSpPr>
          <p:cNvPr id="22" name="Text 18"/>
          <p:cNvSpPr/>
          <p:nvPr/>
        </p:nvSpPr>
        <p:spPr>
          <a:xfrm>
            <a:off x="5376672" y="1755648"/>
            <a:ext cx="3200400" cy="274320"/>
          </a:xfrm>
          <a:prstGeom prst="rect">
            <a:avLst/>
          </a:prstGeom>
          <a:noFill/>
          <a:ln/>
        </p:spPr>
        <p:txBody>
          <a:bodyPr wrap="square" lIns="0" tIns="0" rIns="0" bIns="0" rtlCol="0" anchor="t">
            <a:normAutofit/>
          </a:bodyPr>
          <a:lstStyle/>
          <a:p>
            <a:pPr marL="0" indent="0">
              <a:buNone/>
            </a:pPr>
            <a:r>
              <a:rPr lang="en-US" sz="1300" b="1" dirty="0">
                <a:solidFill>
                  <a:srgbClr val="14213D"/>
                </a:solidFill>
                <a:latin typeface="Microsoft YaHei" pitchFamily="34" charset="0"/>
                <a:ea typeface="Microsoft YaHei" pitchFamily="34" charset="-122"/>
                <a:cs typeface="Microsoft YaHei" pitchFamily="34" charset="-120"/>
              </a:rPr>
              <a:t>Mark "unknown" when occluded</a:t>
            </a:r>
            <a:endParaRPr lang="en-US" sz="1300" dirty="0"/>
          </a:p>
        </p:txBody>
      </p:sp>
      <p:sp>
        <p:nvSpPr>
          <p:cNvPr id="23" name="Text 19"/>
          <p:cNvSpPr/>
          <p:nvPr/>
        </p:nvSpPr>
        <p:spPr>
          <a:xfrm>
            <a:off x="5376672" y="2048256"/>
            <a:ext cx="3200400" cy="228600"/>
          </a:xfrm>
          <a:prstGeom prst="rect">
            <a:avLst/>
          </a:prstGeom>
          <a:noFill/>
          <a:ln/>
        </p:spPr>
        <p:txBody>
          <a:bodyPr wrap="square" lIns="0" tIns="0" rIns="0" bIns="0" rtlCol="0" anchor="t"/>
          <a:lstStyle/>
          <a:p>
            <a:pPr marL="0" indent="0">
              <a:buNone/>
            </a:pPr>
            <a:r>
              <a:rPr lang="en-US" sz="1050" dirty="0">
                <a:solidFill>
                  <a:srgbClr val="6B7280"/>
                </a:solidFill>
                <a:latin typeface="Microsoft YaHei" pitchFamily="34" charset="0"/>
                <a:ea typeface="Microsoft YaHei" pitchFamily="34" charset="-122"/>
                <a:cs typeface="Microsoft YaHei" pitchFamily="34" charset="-120"/>
              </a:rPr>
              <a:t>Never guess a point along the shaft</a:t>
            </a:r>
            <a:endParaRPr lang="en-US" sz="1050" dirty="0"/>
          </a:p>
        </p:txBody>
      </p:sp>
      <p:sp>
        <p:nvSpPr>
          <p:cNvPr id="24" name="Shape 20"/>
          <p:cNvSpPr/>
          <p:nvPr/>
        </p:nvSpPr>
        <p:spPr>
          <a:xfrm>
            <a:off x="5166360" y="2450592"/>
            <a:ext cx="3520440" cy="658368"/>
          </a:xfrm>
          <a:prstGeom prst="rect">
            <a:avLst/>
          </a:prstGeom>
          <a:solidFill>
            <a:srgbClr val="FFFFFF"/>
          </a:solidFill>
          <a:ln w="9525">
            <a:solidFill>
              <a:srgbClr val="E3DCCB"/>
            </a:solidFill>
            <a:prstDash val="solid"/>
          </a:ln>
        </p:spPr>
        <p:txBody>
          <a:bodyPr/>
          <a:lstStyle/>
          <a:p>
            <a:endParaRPr lang="en-CN"/>
          </a:p>
        </p:txBody>
      </p:sp>
      <p:sp>
        <p:nvSpPr>
          <p:cNvPr id="25" name="Shape 21"/>
          <p:cNvSpPr/>
          <p:nvPr/>
        </p:nvSpPr>
        <p:spPr>
          <a:xfrm>
            <a:off x="5166360" y="2450592"/>
            <a:ext cx="64008" cy="658368"/>
          </a:xfrm>
          <a:prstGeom prst="rect">
            <a:avLst/>
          </a:prstGeom>
          <a:solidFill>
            <a:srgbClr val="F2B705"/>
          </a:solidFill>
          <a:ln w="9525">
            <a:solidFill>
              <a:srgbClr val="F2B705"/>
            </a:solidFill>
            <a:prstDash val="solid"/>
          </a:ln>
        </p:spPr>
        <p:txBody>
          <a:bodyPr/>
          <a:lstStyle/>
          <a:p>
            <a:endParaRPr lang="en-CN"/>
          </a:p>
        </p:txBody>
      </p:sp>
      <p:sp>
        <p:nvSpPr>
          <p:cNvPr id="26" name="Text 22"/>
          <p:cNvSpPr/>
          <p:nvPr/>
        </p:nvSpPr>
        <p:spPr>
          <a:xfrm>
            <a:off x="5376672" y="2523744"/>
            <a:ext cx="3200400" cy="274320"/>
          </a:xfrm>
          <a:prstGeom prst="rect">
            <a:avLst/>
          </a:prstGeom>
          <a:noFill/>
          <a:ln/>
        </p:spPr>
        <p:txBody>
          <a:bodyPr wrap="square" lIns="0" tIns="0" rIns="0" bIns="0" rtlCol="0" anchor="t">
            <a:normAutofit/>
          </a:bodyPr>
          <a:lstStyle/>
          <a:p>
            <a:pPr marL="0" indent="0">
              <a:buNone/>
            </a:pPr>
            <a:r>
              <a:rPr lang="en-US" sz="1300" b="1" dirty="0">
                <a:solidFill>
                  <a:srgbClr val="14213D"/>
                </a:solidFill>
                <a:latin typeface="Microsoft YaHei" pitchFamily="34" charset="0"/>
                <a:ea typeface="Microsoft YaHei" pitchFamily="34" charset="-122"/>
                <a:cs typeface="Microsoft YaHei" pitchFamily="34" charset="-120"/>
              </a:rPr>
              <a:t>"Unknown" ≠ "no arrow"</a:t>
            </a:r>
            <a:endParaRPr lang="en-US" sz="1300" dirty="0"/>
          </a:p>
        </p:txBody>
      </p:sp>
      <p:sp>
        <p:nvSpPr>
          <p:cNvPr id="27" name="Text 23"/>
          <p:cNvSpPr/>
          <p:nvPr/>
        </p:nvSpPr>
        <p:spPr>
          <a:xfrm>
            <a:off x="5376672" y="2816352"/>
            <a:ext cx="3200400" cy="228600"/>
          </a:xfrm>
          <a:prstGeom prst="rect">
            <a:avLst/>
          </a:prstGeom>
          <a:noFill/>
          <a:ln/>
        </p:spPr>
        <p:txBody>
          <a:bodyPr wrap="square" lIns="0" tIns="0" rIns="0" bIns="0" rtlCol="0" anchor="t">
            <a:normAutofit fontScale="59750"/>
          </a:bodyPr>
          <a:lstStyle/>
          <a:p>
            <a:pPr marL="0" indent="0">
              <a:buNone/>
            </a:pPr>
            <a:r>
              <a:rPr lang="en-US" sz="1050" dirty="0">
                <a:solidFill>
                  <a:srgbClr val="6B7280"/>
                </a:solidFill>
                <a:latin typeface="Microsoft YaHei" pitchFamily="34" charset="0"/>
                <a:ea typeface="Microsoft YaHei" pitchFamily="34" charset="-122"/>
                <a:cs typeface="Microsoft YaHei" pitchFamily="34" charset="-120"/>
              </a:rPr>
              <a:t>Unknown regions are not treated as background</a:t>
            </a:r>
            <a:endParaRPr lang="en-US" sz="1050" dirty="0"/>
          </a:p>
        </p:txBody>
      </p:sp>
      <p:sp>
        <p:nvSpPr>
          <p:cNvPr id="28" name="Shape 24"/>
          <p:cNvSpPr/>
          <p:nvPr/>
        </p:nvSpPr>
        <p:spPr>
          <a:xfrm>
            <a:off x="5166360" y="3218688"/>
            <a:ext cx="3520440" cy="658368"/>
          </a:xfrm>
          <a:prstGeom prst="rect">
            <a:avLst/>
          </a:prstGeom>
          <a:solidFill>
            <a:srgbClr val="FFFFFF"/>
          </a:solidFill>
          <a:ln w="9525">
            <a:solidFill>
              <a:srgbClr val="E3DCCB"/>
            </a:solidFill>
            <a:prstDash val="solid"/>
          </a:ln>
        </p:spPr>
        <p:txBody>
          <a:bodyPr/>
          <a:lstStyle/>
          <a:p>
            <a:endParaRPr lang="en-CN"/>
          </a:p>
        </p:txBody>
      </p:sp>
      <p:sp>
        <p:nvSpPr>
          <p:cNvPr id="29" name="Shape 25"/>
          <p:cNvSpPr/>
          <p:nvPr/>
        </p:nvSpPr>
        <p:spPr>
          <a:xfrm>
            <a:off x="5166360" y="3218688"/>
            <a:ext cx="64008" cy="658368"/>
          </a:xfrm>
          <a:prstGeom prst="rect">
            <a:avLst/>
          </a:prstGeom>
          <a:solidFill>
            <a:srgbClr val="F2B705"/>
          </a:solidFill>
          <a:ln w="9525">
            <a:solidFill>
              <a:srgbClr val="F2B705"/>
            </a:solidFill>
            <a:prstDash val="solid"/>
          </a:ln>
        </p:spPr>
        <p:txBody>
          <a:bodyPr/>
          <a:lstStyle/>
          <a:p>
            <a:endParaRPr lang="en-CN"/>
          </a:p>
        </p:txBody>
      </p:sp>
      <p:sp>
        <p:nvSpPr>
          <p:cNvPr id="30" name="Text 26"/>
          <p:cNvSpPr/>
          <p:nvPr/>
        </p:nvSpPr>
        <p:spPr>
          <a:xfrm>
            <a:off x="5376672" y="3291840"/>
            <a:ext cx="3200400" cy="274320"/>
          </a:xfrm>
          <a:prstGeom prst="rect">
            <a:avLst/>
          </a:prstGeom>
          <a:noFill/>
          <a:ln/>
        </p:spPr>
        <p:txBody>
          <a:bodyPr wrap="square" lIns="0" tIns="0" rIns="0" bIns="0" rtlCol="0" anchor="t">
            <a:normAutofit/>
          </a:bodyPr>
          <a:lstStyle/>
          <a:p>
            <a:pPr marL="0" indent="0">
              <a:buNone/>
            </a:pPr>
            <a:r>
              <a:rPr lang="en-US" sz="1300" b="1" dirty="0">
                <a:solidFill>
                  <a:srgbClr val="14213D"/>
                </a:solidFill>
                <a:latin typeface="Microsoft YaHei" pitchFamily="34" charset="0"/>
                <a:ea typeface="Microsoft YaHei" pitchFamily="34" charset="-122"/>
                <a:cs typeface="Microsoft YaHei" pitchFamily="34" charset="-120"/>
              </a:rPr>
              <a:t>AI review ≠ human confirmation</a:t>
            </a:r>
            <a:endParaRPr lang="en-US" sz="1300" dirty="0"/>
          </a:p>
        </p:txBody>
      </p:sp>
      <p:sp>
        <p:nvSpPr>
          <p:cNvPr id="31" name="Text 27"/>
          <p:cNvSpPr/>
          <p:nvPr/>
        </p:nvSpPr>
        <p:spPr>
          <a:xfrm>
            <a:off x="5376672" y="3584448"/>
            <a:ext cx="3200400" cy="228600"/>
          </a:xfrm>
          <a:prstGeom prst="rect">
            <a:avLst/>
          </a:prstGeom>
          <a:noFill/>
          <a:ln/>
        </p:spPr>
        <p:txBody>
          <a:bodyPr wrap="square" lIns="0" tIns="0" rIns="0" bIns="0" rtlCol="0" anchor="t"/>
          <a:lstStyle/>
          <a:p>
            <a:pPr marL="0" indent="0">
              <a:buNone/>
            </a:pPr>
            <a:r>
              <a:rPr lang="en-US" sz="1050" dirty="0">
                <a:solidFill>
                  <a:srgbClr val="6B7280"/>
                </a:solidFill>
                <a:latin typeface="Microsoft YaHei" pitchFamily="34" charset="0"/>
                <a:ea typeface="Microsoft YaHei" pitchFamily="34" charset="-122"/>
                <a:cs typeface="Microsoft YaHei" pitchFamily="34" charset="-120"/>
              </a:rPr>
              <a:t>The two states are recorded separately</a:t>
            </a:r>
            <a:endParaRPr lang="en-US" sz="1050" dirty="0"/>
          </a:p>
        </p:txBody>
      </p:sp>
      <p:sp>
        <p:nvSpPr>
          <p:cNvPr id="32" name="Shape 28"/>
          <p:cNvSpPr/>
          <p:nvPr/>
        </p:nvSpPr>
        <p:spPr>
          <a:xfrm>
            <a:off x="5166360" y="4069080"/>
            <a:ext cx="3520440" cy="502920"/>
          </a:xfrm>
          <a:prstGeom prst="rect">
            <a:avLst/>
          </a:prstGeom>
          <a:solidFill>
            <a:srgbClr val="14213D"/>
          </a:solidFill>
          <a:ln w="9525">
            <a:solidFill>
              <a:srgbClr val="14213D"/>
            </a:solidFill>
            <a:prstDash val="solid"/>
          </a:ln>
        </p:spPr>
        <p:txBody>
          <a:bodyPr/>
          <a:lstStyle/>
          <a:p>
            <a:endParaRPr lang="en-CN"/>
          </a:p>
        </p:txBody>
      </p:sp>
      <p:sp>
        <p:nvSpPr>
          <p:cNvPr id="33" name="Text 29"/>
          <p:cNvSpPr/>
          <p:nvPr/>
        </p:nvSpPr>
        <p:spPr>
          <a:xfrm>
            <a:off x="5257800" y="4069080"/>
            <a:ext cx="3383280" cy="502920"/>
          </a:xfrm>
          <a:prstGeom prst="rect">
            <a:avLst/>
          </a:prstGeom>
          <a:noFill/>
          <a:ln/>
        </p:spPr>
        <p:txBody>
          <a:bodyPr wrap="square" lIns="0" tIns="0" rIns="0" bIns="0" rtlCol="0" anchor="ctr">
            <a:normAutofit fontScale="59364"/>
          </a:bodyP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Expanded training data: 116 photos · 829 reference points · 79 unknown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92151"/>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Heatmap Model: Scoring Every Location</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Shape 5"/>
          <p:cNvSpPr/>
          <p:nvPr/>
        </p:nvSpPr>
        <p:spPr>
          <a:xfrm>
            <a:off x="7406640"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7</a:t>
            </a:r>
            <a:endParaRPr lang="en-US" sz="900" dirty="0"/>
          </a:p>
        </p:txBody>
      </p:sp>
      <p:pic>
        <p:nvPicPr>
          <p:cNvPr id="13" name="Image 0" descr="/Users/xiaolu/source/ArcheryAssistant-Launcher-1.0.0-win64/课题报告/答辩PPT/assets/cover.jpg"/>
          <p:cNvPicPr>
            <a:picLocks noChangeAspect="1"/>
          </p:cNvPicPr>
          <p:nvPr/>
        </p:nvPicPr>
        <p:blipFill>
          <a:blip r:embed="rId3"/>
          <a:stretch>
            <a:fillRect/>
          </a:stretch>
        </p:blipFill>
        <p:spPr>
          <a:xfrm>
            <a:off x="457200" y="960120"/>
            <a:ext cx="3840480" cy="2880360"/>
          </a:xfrm>
          <a:prstGeom prst="rect">
            <a:avLst/>
          </a:prstGeom>
        </p:spPr>
      </p:pic>
      <p:pic>
        <p:nvPicPr>
          <p:cNvPr id="14" name="Image 1" descr="/Users/xiaolu/source/ArcheryAssistant-Launcher-1.0.0-win64/课题报告/答辩PPT/assets/heat_new.jpg"/>
          <p:cNvPicPr>
            <a:picLocks noChangeAspect="1"/>
          </p:cNvPicPr>
          <p:nvPr/>
        </p:nvPicPr>
        <p:blipFill>
          <a:blip r:embed="rId4"/>
          <a:stretch>
            <a:fillRect/>
          </a:stretch>
        </p:blipFill>
        <p:spPr>
          <a:xfrm>
            <a:off x="4846320" y="960120"/>
            <a:ext cx="3840480" cy="2880360"/>
          </a:xfrm>
          <a:prstGeom prst="rect">
            <a:avLst/>
          </a:prstGeom>
        </p:spPr>
      </p:pic>
      <p:sp>
        <p:nvSpPr>
          <p:cNvPr id="15" name="Shape 10"/>
          <p:cNvSpPr/>
          <p:nvPr/>
        </p:nvSpPr>
        <p:spPr>
          <a:xfrm>
            <a:off x="4389120" y="2194560"/>
            <a:ext cx="365760" cy="411480"/>
          </a:xfrm>
          <a:prstGeom prst="rightArrow">
            <a:avLst/>
          </a:prstGeom>
          <a:solidFill>
            <a:srgbClr val="F2B705"/>
          </a:solidFill>
          <a:ln w="12700">
            <a:solidFill>
              <a:srgbClr val="F2B705"/>
            </a:solidFill>
            <a:prstDash val="solid"/>
          </a:ln>
        </p:spPr>
        <p:txBody>
          <a:bodyPr/>
          <a:lstStyle/>
          <a:p>
            <a:endParaRPr lang="en-CN"/>
          </a:p>
        </p:txBody>
      </p:sp>
      <p:sp>
        <p:nvSpPr>
          <p:cNvPr id="16" name="Text 11"/>
          <p:cNvSpPr/>
          <p:nvPr/>
        </p:nvSpPr>
        <p:spPr>
          <a:xfrm>
            <a:off x="457200" y="3886200"/>
            <a:ext cx="3840480" cy="256032"/>
          </a:xfrm>
          <a:prstGeom prst="rect">
            <a:avLst/>
          </a:prstGeom>
          <a:noFill/>
          <a:ln/>
        </p:spPr>
        <p:txBody>
          <a:bodyPr wrap="square" lIns="0" tIns="0" rIns="0" bIns="0" rtlCol="0" anchor="t"/>
          <a:lstStyle/>
          <a:p>
            <a:pPr marL="0" indent="0" algn="ctr">
              <a:buNone/>
            </a:pPr>
            <a:r>
              <a:rPr lang="en-US" sz="1100" dirty="0">
                <a:solidFill>
                  <a:srgbClr val="6B7280"/>
                </a:solidFill>
                <a:latin typeface="Microsoft YaHei" pitchFamily="34" charset="0"/>
                <a:ea typeface="Microsoft YaHei" pitchFamily="34" charset="-122"/>
                <a:cs typeface="Microsoft YaHei" pitchFamily="34" charset="-120"/>
              </a:rPr>
              <a:t>Original image</a:t>
            </a:r>
            <a:endParaRPr lang="en-US" sz="1100" dirty="0"/>
          </a:p>
        </p:txBody>
      </p:sp>
      <p:sp>
        <p:nvSpPr>
          <p:cNvPr id="17" name="Text 12"/>
          <p:cNvSpPr/>
          <p:nvPr/>
        </p:nvSpPr>
        <p:spPr>
          <a:xfrm>
            <a:off x="4846320" y="3886200"/>
            <a:ext cx="3840480" cy="256032"/>
          </a:xfrm>
          <a:prstGeom prst="rect">
            <a:avLst/>
          </a:prstGeom>
          <a:noFill/>
          <a:ln/>
        </p:spPr>
        <p:txBody>
          <a:bodyPr wrap="square" lIns="0" tIns="0" rIns="0" bIns="0" rtlCol="0" anchor="t"/>
          <a:lstStyle/>
          <a:p>
            <a:pPr marL="0" indent="0" algn="ctr">
              <a:buNone/>
            </a:pPr>
            <a:r>
              <a:rPr lang="en-US" sz="1100" dirty="0">
                <a:solidFill>
                  <a:srgbClr val="6B7280"/>
                </a:solidFill>
                <a:latin typeface="Microsoft YaHei" pitchFamily="34" charset="0"/>
                <a:ea typeface="Microsoft YaHei" pitchFamily="34" charset="-122"/>
                <a:cs typeface="Microsoft YaHei" pitchFamily="34" charset="-120"/>
              </a:rPr>
              <a:t>Heatmap (red = more likely an entry-point)</a:t>
            </a:r>
            <a:endParaRPr lang="en-US" sz="1100" dirty="0"/>
          </a:p>
        </p:txBody>
      </p:sp>
      <p:sp>
        <p:nvSpPr>
          <p:cNvPr id="18" name="Shape 13"/>
          <p:cNvSpPr/>
          <p:nvPr/>
        </p:nvSpPr>
        <p:spPr>
          <a:xfrm>
            <a:off x="457200" y="4224528"/>
            <a:ext cx="8229600" cy="457200"/>
          </a:xfrm>
          <a:prstGeom prst="rect">
            <a:avLst/>
          </a:prstGeom>
          <a:solidFill>
            <a:srgbClr val="FFFFFF"/>
          </a:solidFill>
          <a:ln w="9525">
            <a:solidFill>
              <a:srgbClr val="E3DCCB"/>
            </a:solidFill>
            <a:prstDash val="solid"/>
          </a:ln>
        </p:spPr>
        <p:txBody>
          <a:bodyPr/>
          <a:lstStyle/>
          <a:p>
            <a:endParaRPr lang="en-CN"/>
          </a:p>
        </p:txBody>
      </p:sp>
      <p:sp>
        <p:nvSpPr>
          <p:cNvPr id="19" name="Text 14"/>
          <p:cNvSpPr/>
          <p:nvPr/>
        </p:nvSpPr>
        <p:spPr>
          <a:xfrm>
            <a:off x="640080" y="4224528"/>
            <a:ext cx="7863840" cy="457200"/>
          </a:xfrm>
          <a:prstGeom prst="rect">
            <a:avLst/>
          </a:prstGeom>
          <a:noFill/>
          <a:ln/>
        </p:spPr>
        <p:txBody>
          <a:bodyPr wrap="square" lIns="0" tIns="0" rIns="0" bIns="0" rtlCol="0" anchor="ctr">
            <a:normAutofit fontScale="58671"/>
          </a:bodyPr>
          <a:lstStyle/>
          <a:p>
            <a:pPr marL="0" indent="0">
              <a:buNone/>
            </a:pPr>
            <a:r>
              <a:rPr lang="en-US" sz="1200" b="1" dirty="0">
                <a:solidFill>
                  <a:srgbClr val="14213D"/>
                </a:solidFill>
                <a:latin typeface="Microsoft YaHei" pitchFamily="34" charset="0"/>
                <a:ea typeface="Microsoft YaHei" pitchFamily="34" charset="-122"/>
                <a:cs typeface="Microsoft YaHei" pitchFamily="34" charset="-120"/>
              </a:rPr>
              <a:t>YOLOX Nano feature network + heatmap head, about 0.83M parameters　Each arrow forms a peak at its entry-point, which is then mapped back to photo coordinates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Loss Fell Very Low, yet the Model Missed the Target</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Shape 5"/>
          <p:cNvSpPr/>
          <p:nvPr/>
        </p:nvSpPr>
        <p:spPr>
          <a:xfrm>
            <a:off x="7406640"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8</a:t>
            </a:r>
            <a:endParaRPr lang="en-US" sz="900" dirty="0"/>
          </a:p>
        </p:txBody>
      </p:sp>
      <p:pic>
        <p:nvPicPr>
          <p:cNvPr id="13" name="Image 0" descr="/Users/xiaolu/source/ArcheryAssistant-Launcher-1.0.0-win64/课题报告/答辩PPT/assets/loss.png"/>
          <p:cNvPicPr>
            <a:picLocks noChangeAspect="1"/>
          </p:cNvPicPr>
          <p:nvPr/>
        </p:nvPicPr>
        <p:blipFill>
          <a:blip r:embed="rId3"/>
          <a:stretch>
            <a:fillRect/>
          </a:stretch>
        </p:blipFill>
        <p:spPr>
          <a:xfrm>
            <a:off x="457200" y="960120"/>
            <a:ext cx="4023360" cy="1691640"/>
          </a:xfrm>
          <a:prstGeom prst="rect">
            <a:avLst/>
          </a:prstGeom>
        </p:spPr>
      </p:pic>
      <p:sp>
        <p:nvSpPr>
          <p:cNvPr id="14" name="Text 10"/>
          <p:cNvSpPr/>
          <p:nvPr/>
        </p:nvSpPr>
        <p:spPr>
          <a:xfrm>
            <a:off x="457200" y="2697480"/>
            <a:ext cx="4023360" cy="256032"/>
          </a:xfrm>
          <a:prstGeom prst="rect">
            <a:avLst/>
          </a:prstGeom>
          <a:noFill/>
          <a:ln/>
        </p:spPr>
        <p:txBody>
          <a:bodyPr wrap="square" lIns="0" tIns="0" rIns="0" bIns="0" rtlCol="0" anchor="t">
            <a:normAutofit fontScale="95000"/>
          </a:bodyPr>
          <a:lstStyle/>
          <a:p>
            <a:pPr marL="0" indent="0" algn="ctr">
              <a:buNone/>
            </a:pPr>
            <a:r>
              <a:rPr lang="en-US" sz="1000" dirty="0">
                <a:solidFill>
                  <a:srgbClr val="6B7280"/>
                </a:solidFill>
                <a:latin typeface="Microsoft YaHei" pitchFamily="34" charset="0"/>
                <a:ea typeface="Microsoft YaHei" pitchFamily="34" charset="-122"/>
                <a:cs typeface="Microsoft YaHei" pitchFamily="34" charset="-120"/>
              </a:rPr>
              <a:t>Training loss dropped to the order of one ten-thousandth</a:t>
            </a:r>
            <a:endParaRPr lang="en-US" sz="1000" dirty="0"/>
          </a:p>
        </p:txBody>
      </p:sp>
      <p:sp>
        <p:nvSpPr>
          <p:cNvPr id="15" name="Text 11"/>
          <p:cNvSpPr/>
          <p:nvPr/>
        </p:nvSpPr>
        <p:spPr>
          <a:xfrm>
            <a:off x="457200" y="3063240"/>
            <a:ext cx="4023360" cy="457200"/>
          </a:xfrm>
          <a:prstGeom prst="rect">
            <a:avLst/>
          </a:prstGeom>
          <a:noFill/>
          <a:ln/>
        </p:spPr>
        <p:txBody>
          <a:bodyPr wrap="square" lIns="0" tIns="0" rIns="0" bIns="0" rtlCol="0" anchor="t">
            <a:normAutofit fontScale="54365"/>
          </a:bodyPr>
          <a:lstStyle/>
          <a:p>
            <a:pPr marL="0" indent="0">
              <a:buNone/>
            </a:pPr>
            <a:r>
              <a:rPr lang="en-US" sz="2400" b="1" dirty="0">
                <a:solidFill>
                  <a:srgbClr val="D62839"/>
                </a:solidFill>
                <a:latin typeface="Microsoft YaHei" pitchFamily="34" charset="0"/>
                <a:ea typeface="Microsoft YaHei" pitchFamily="34" charset="-122"/>
                <a:cs typeface="Microsoft YaHei" pitchFamily="34" charset="-120"/>
              </a:rPr>
              <a:t>But only 28 / 82 matched</a:t>
            </a:r>
            <a:endParaRPr lang="en-US" sz="2400" dirty="0"/>
          </a:p>
        </p:txBody>
      </p:sp>
      <p:sp>
        <p:nvSpPr>
          <p:cNvPr id="16" name="Text 12"/>
          <p:cNvSpPr/>
          <p:nvPr/>
        </p:nvSpPr>
        <p:spPr>
          <a:xfrm>
            <a:off x="457200" y="3566160"/>
            <a:ext cx="4023360" cy="274320"/>
          </a:xfrm>
          <a:prstGeom prst="rect">
            <a:avLst/>
          </a:prstGeom>
          <a:noFill/>
          <a:ln/>
        </p:spPr>
        <p:txBody>
          <a:bodyPr wrap="square" lIns="0" tIns="0" rIns="0" bIns="0" rtlCol="0" anchor="t"/>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And it marked large regions as high response</a:t>
            </a:r>
            <a:endParaRPr lang="en-US" sz="1200" dirty="0"/>
          </a:p>
        </p:txBody>
      </p:sp>
      <p:pic>
        <p:nvPicPr>
          <p:cNvPr id="17" name="Image 1" descr="/Users/xiaolu/source/ArcheryAssistant-Launcher-1.0.0-win64/课题报告/答辩PPT/assets/heat_old.jpg"/>
          <p:cNvPicPr>
            <a:picLocks noChangeAspect="1"/>
          </p:cNvPicPr>
          <p:nvPr/>
        </p:nvPicPr>
        <p:blipFill>
          <a:blip r:embed="rId4"/>
          <a:stretch>
            <a:fillRect/>
          </a:stretch>
        </p:blipFill>
        <p:spPr>
          <a:xfrm>
            <a:off x="4754880" y="960120"/>
            <a:ext cx="1920240" cy="1440180"/>
          </a:xfrm>
          <a:prstGeom prst="rect">
            <a:avLst/>
          </a:prstGeom>
        </p:spPr>
      </p:pic>
      <p:pic>
        <p:nvPicPr>
          <p:cNvPr id="18" name="Image 2" descr="/Users/xiaolu/source/ArcheryAssistant-Launcher-1.0.0-win64/课题报告/答辩PPT/assets/heat_new.jpg"/>
          <p:cNvPicPr>
            <a:picLocks noChangeAspect="1"/>
          </p:cNvPicPr>
          <p:nvPr/>
        </p:nvPicPr>
        <p:blipFill>
          <a:blip r:embed="rId5"/>
          <a:stretch>
            <a:fillRect/>
          </a:stretch>
        </p:blipFill>
        <p:spPr>
          <a:xfrm>
            <a:off x="6766560" y="960120"/>
            <a:ext cx="1920240" cy="1440180"/>
          </a:xfrm>
          <a:prstGeom prst="rect">
            <a:avLst/>
          </a:prstGeom>
        </p:spPr>
      </p:pic>
      <p:sp>
        <p:nvSpPr>
          <p:cNvPr id="19" name="Text 13"/>
          <p:cNvSpPr/>
          <p:nvPr/>
        </p:nvSpPr>
        <p:spPr>
          <a:xfrm>
            <a:off x="4754880" y="2450592"/>
            <a:ext cx="1920240" cy="256032"/>
          </a:xfrm>
          <a:prstGeom prst="rect">
            <a:avLst/>
          </a:prstGeom>
          <a:noFill/>
          <a:ln/>
        </p:spPr>
        <p:txBody>
          <a:bodyPr wrap="square" lIns="0" tIns="0" rIns="0" bIns="0" rtlCol="0" anchor="t">
            <a:normAutofit fontScale="59364"/>
          </a:bodyPr>
          <a:lstStyle/>
          <a:p>
            <a:pPr marL="0" indent="0" algn="ctr">
              <a:buNone/>
            </a:pPr>
            <a:r>
              <a:rPr lang="en-US" sz="1100" b="1" dirty="0">
                <a:solidFill>
                  <a:srgbClr val="D62839"/>
                </a:solidFill>
                <a:latin typeface="Microsoft YaHei" pitchFamily="34" charset="0"/>
                <a:ea typeface="Microsoft YaHei" pitchFamily="34" charset="-122"/>
                <a:cs typeface="Microsoft YaHei" pitchFamily="34" charset="-120"/>
              </a:rPr>
              <a:t>Before adding background　28/82</a:t>
            </a:r>
            <a:endParaRPr lang="en-US" sz="1100" dirty="0"/>
          </a:p>
        </p:txBody>
      </p:sp>
      <p:sp>
        <p:nvSpPr>
          <p:cNvPr id="20" name="Text 14"/>
          <p:cNvSpPr/>
          <p:nvPr/>
        </p:nvSpPr>
        <p:spPr>
          <a:xfrm>
            <a:off x="6766560" y="2450592"/>
            <a:ext cx="1920240" cy="256032"/>
          </a:xfrm>
          <a:prstGeom prst="rect">
            <a:avLst/>
          </a:prstGeom>
          <a:noFill/>
          <a:ln/>
        </p:spPr>
        <p:txBody>
          <a:bodyPr wrap="square" lIns="0" tIns="0" rIns="0" bIns="0" rtlCol="0" anchor="t">
            <a:normAutofit fontScale="59364"/>
          </a:bodyPr>
          <a:lstStyle/>
          <a:p>
            <a:pPr marL="0" indent="0" algn="ctr">
              <a:buNone/>
            </a:pPr>
            <a:r>
              <a:rPr lang="en-US" sz="1100" b="1" dirty="0">
                <a:solidFill>
                  <a:srgbClr val="2E8B57"/>
                </a:solidFill>
                <a:latin typeface="Microsoft YaHei" pitchFamily="34" charset="0"/>
                <a:ea typeface="Microsoft YaHei" pitchFamily="34" charset="-122"/>
                <a:cs typeface="Microsoft YaHei" pitchFamily="34" charset="-120"/>
              </a:rPr>
              <a:t>After adding background　75/82</a:t>
            </a:r>
            <a:endParaRPr lang="en-US" sz="1100" dirty="0"/>
          </a:p>
        </p:txBody>
      </p:sp>
      <p:sp>
        <p:nvSpPr>
          <p:cNvPr id="21" name="Shape 15"/>
          <p:cNvSpPr/>
          <p:nvPr/>
        </p:nvSpPr>
        <p:spPr>
          <a:xfrm>
            <a:off x="4754880" y="2834640"/>
            <a:ext cx="3931920" cy="1051560"/>
          </a:xfrm>
          <a:prstGeom prst="rect">
            <a:avLst/>
          </a:prstGeom>
          <a:solidFill>
            <a:srgbClr val="FFFFFF"/>
          </a:solidFill>
          <a:ln w="9525">
            <a:solidFill>
              <a:srgbClr val="E3DCCB"/>
            </a:solidFill>
            <a:prstDash val="solid"/>
          </a:ln>
        </p:spPr>
        <p:txBody>
          <a:bodyPr/>
          <a:lstStyle/>
          <a:p>
            <a:endParaRPr lang="en-CN"/>
          </a:p>
        </p:txBody>
      </p:sp>
      <p:sp>
        <p:nvSpPr>
          <p:cNvPr id="22" name="Shape 16"/>
          <p:cNvSpPr/>
          <p:nvPr/>
        </p:nvSpPr>
        <p:spPr>
          <a:xfrm>
            <a:off x="4754880" y="2834640"/>
            <a:ext cx="64008" cy="1051560"/>
          </a:xfrm>
          <a:prstGeom prst="rect">
            <a:avLst/>
          </a:prstGeom>
          <a:solidFill>
            <a:srgbClr val="F2B705"/>
          </a:solidFill>
          <a:ln w="9525">
            <a:solidFill>
              <a:srgbClr val="F2B705"/>
            </a:solidFill>
            <a:prstDash val="solid"/>
          </a:ln>
        </p:spPr>
        <p:txBody>
          <a:bodyPr/>
          <a:lstStyle/>
          <a:p>
            <a:endParaRPr lang="en-CN"/>
          </a:p>
        </p:txBody>
      </p:sp>
      <p:sp>
        <p:nvSpPr>
          <p:cNvPr id="23" name="Text 17"/>
          <p:cNvSpPr/>
          <p:nvPr/>
        </p:nvSpPr>
        <p:spPr>
          <a:xfrm>
            <a:off x="4956048" y="2834640"/>
            <a:ext cx="3657600" cy="1051560"/>
          </a:xfrm>
          <a:prstGeom prst="rect">
            <a:avLst/>
          </a:prstGeom>
          <a:noFill/>
          <a:ln/>
        </p:spPr>
        <p:txBody>
          <a:bodyPr wrap="square" lIns="0" tIns="0" rIns="0" bIns="0" rtlCol="0" anchor="ctr">
            <a:normAutofit fontScale="54572"/>
          </a:bodyPr>
          <a:lstStyle/>
          <a:p>
            <a:pPr marL="0" indent="0">
              <a:spcAft>
                <a:spcPts val="400"/>
              </a:spcAft>
              <a:buNone/>
            </a:pPr>
            <a:r>
              <a:rPr lang="en-US" sz="1150" b="1" dirty="0">
                <a:solidFill>
                  <a:srgbClr val="14213D"/>
                </a:solidFill>
                <a:latin typeface="Microsoft YaHei" pitchFamily="34" charset="0"/>
                <a:ea typeface="Microsoft YaHei" pitchFamily="34" charset="-122"/>
                <a:cs typeface="Microsoft YaHei" pitchFamily="34" charset="-120"/>
              </a:rPr>
              <a:t>Cause: the model was told where entry-points are, but never where they are not</a:t>
            </a:r>
            <a:endParaRPr lang="en-US" sz="1150" dirty="0"/>
          </a:p>
          <a:p>
            <a:pPr marL="0" indent="0">
              <a:spcAft>
                <a:spcPts val="400"/>
              </a:spcAft>
              <a:buNone/>
            </a:pPr>
            <a:r>
              <a:rPr lang="en-US" sz="1150" dirty="0">
                <a:solidFill>
                  <a:srgbClr val="1F2933"/>
                </a:solidFill>
                <a:latin typeface="Microsoft YaHei" pitchFamily="34" charset="0"/>
                <a:ea typeface="Microsoft YaHei" pitchFamily="34" charset="-122"/>
                <a:cs typeface="Microsoft YaHei" pitchFamily="34" charset="-120"/>
              </a:rPr>
              <a:t>Fix: add confirmed arrow-free background, and constrain the heatmap to form local peaks</a:t>
            </a:r>
            <a:endParaRPr lang="en-US" sz="1150" dirty="0"/>
          </a:p>
        </p:txBody>
      </p:sp>
      <p:sp>
        <p:nvSpPr>
          <p:cNvPr id="24" name="Shape 18"/>
          <p:cNvSpPr/>
          <p:nvPr/>
        </p:nvSpPr>
        <p:spPr>
          <a:xfrm>
            <a:off x="457200" y="4114800"/>
            <a:ext cx="8229600" cy="502920"/>
          </a:xfrm>
          <a:prstGeom prst="rect">
            <a:avLst/>
          </a:prstGeom>
          <a:solidFill>
            <a:srgbClr val="14213D"/>
          </a:solidFill>
          <a:ln w="9525">
            <a:solidFill>
              <a:srgbClr val="14213D"/>
            </a:solidFill>
            <a:prstDash val="solid"/>
          </a:ln>
        </p:spPr>
        <p:txBody>
          <a:bodyPr/>
          <a:lstStyle/>
          <a:p>
            <a:endParaRPr lang="en-CN"/>
          </a:p>
        </p:txBody>
      </p:sp>
      <p:sp>
        <p:nvSpPr>
          <p:cNvPr id="25" name="Text 19"/>
          <p:cNvSpPr/>
          <p:nvPr/>
        </p:nvSpPr>
        <p:spPr>
          <a:xfrm>
            <a:off x="640080" y="4114800"/>
            <a:ext cx="7863840" cy="502920"/>
          </a:xfrm>
          <a:prstGeom prst="rect">
            <a:avLst/>
          </a:prstGeom>
          <a:noFill/>
          <a:ln/>
        </p:spPr>
        <p:txBody>
          <a:bodyPr wrap="square" lIns="0" tIns="0" rIns="0" bIns="0" rtlCol="0" anchor="ctr">
            <a:normAutofit fontScale="58671"/>
          </a:bodyPr>
          <a:lstStyle/>
          <a:p>
            <a:pPr marL="0" indent="0">
              <a:buNone/>
            </a:pPr>
            <a:r>
              <a:rPr lang="en-US" sz="1200" dirty="0">
                <a:solidFill>
                  <a:srgbClr val="FFFFFF"/>
                </a:solidFill>
                <a:latin typeface="Microsoft YaHei" pitchFamily="34" charset="0"/>
                <a:ea typeface="Microsoft YaHei" pitchFamily="34" charset="-122"/>
                <a:cs typeface="Microsoft YaHei" pitchFamily="34" charset="-120"/>
              </a:rPr>
              <a:t>Still not enough: 1107 candidates reported; only 21/49 matched on 8 unseen photos → generalization needs attention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How to Evaluate: Recall and Precision</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Shape 5"/>
          <p:cNvSpPr/>
          <p:nvPr/>
        </p:nvSpPr>
        <p:spPr>
          <a:xfrm>
            <a:off x="7406640"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9</a:t>
            </a:r>
            <a:endParaRPr lang="en-US" sz="900" dirty="0"/>
          </a:p>
        </p:txBody>
      </p:sp>
      <p:sp>
        <p:nvSpPr>
          <p:cNvPr id="13" name="Shape 10"/>
          <p:cNvSpPr/>
          <p:nvPr/>
        </p:nvSpPr>
        <p:spPr>
          <a:xfrm>
            <a:off x="457200" y="1005840"/>
            <a:ext cx="1188720" cy="1051560"/>
          </a:xfrm>
          <a:prstGeom prst="rect">
            <a:avLst/>
          </a:prstGeom>
          <a:solidFill>
            <a:srgbClr val="FFFFFF"/>
          </a:solidFill>
          <a:ln w="9525">
            <a:solidFill>
              <a:srgbClr val="E3DCCB"/>
            </a:solidFill>
            <a:prstDash val="solid"/>
          </a:ln>
        </p:spPr>
        <p:txBody>
          <a:bodyPr/>
          <a:lstStyle/>
          <a:p>
            <a:endParaRPr lang="en-CN"/>
          </a:p>
        </p:txBody>
      </p:sp>
      <p:sp>
        <p:nvSpPr>
          <p:cNvPr id="14" name="Text 11"/>
          <p:cNvSpPr/>
          <p:nvPr/>
        </p:nvSpPr>
        <p:spPr>
          <a:xfrm>
            <a:off x="457200" y="1051560"/>
            <a:ext cx="1188720" cy="594360"/>
          </a:xfrm>
          <a:prstGeom prst="rect">
            <a:avLst/>
          </a:prstGeom>
          <a:noFill/>
          <a:ln/>
        </p:spPr>
        <p:txBody>
          <a:bodyPr wrap="square" lIns="0" tIns="0" rIns="0" bIns="0" rtlCol="0" anchor="ctr"/>
          <a:lstStyle/>
          <a:p>
            <a:pPr marL="0" indent="0" algn="ctr">
              <a:buNone/>
            </a:pPr>
            <a:r>
              <a:rPr lang="en-US" sz="3200" b="1" dirty="0">
                <a:solidFill>
                  <a:srgbClr val="14213D"/>
                </a:solidFill>
                <a:latin typeface="Microsoft YaHei" pitchFamily="34" charset="0"/>
                <a:ea typeface="Microsoft YaHei" pitchFamily="34" charset="-122"/>
                <a:cs typeface="Microsoft YaHei" pitchFamily="34" charset="-120"/>
              </a:rPr>
              <a:t>10</a:t>
            </a:r>
            <a:endParaRPr lang="en-US" sz="3200" dirty="0"/>
          </a:p>
        </p:txBody>
      </p:sp>
      <p:sp>
        <p:nvSpPr>
          <p:cNvPr id="15" name="Text 12"/>
          <p:cNvSpPr/>
          <p:nvPr/>
        </p:nvSpPr>
        <p:spPr>
          <a:xfrm>
            <a:off x="457200" y="1673352"/>
            <a:ext cx="1188720" cy="274320"/>
          </a:xfrm>
          <a:prstGeom prst="rect">
            <a:avLst/>
          </a:prstGeom>
          <a:noFill/>
          <a:ln/>
        </p:spPr>
        <p:txBody>
          <a:bodyPr wrap="square" lIns="0" tIns="0" rIns="0" bIns="0" rtlCol="0" anchor="t">
            <a:normAutofit fontScale="59364"/>
          </a:bodyPr>
          <a:lstStyle/>
          <a:p>
            <a:pPr marL="0" indent="0" algn="ctr">
              <a:buNone/>
            </a:pPr>
            <a:r>
              <a:rPr lang="en-US" sz="1100" dirty="0">
                <a:solidFill>
                  <a:srgbClr val="6B7280"/>
                </a:solidFill>
                <a:latin typeface="Microsoft YaHei" pitchFamily="34" charset="0"/>
                <a:ea typeface="Microsoft YaHei" pitchFamily="34" charset="-122"/>
                <a:cs typeface="Microsoft YaHei" pitchFamily="34" charset="-120"/>
              </a:rPr>
              <a:t>Reference points</a:t>
            </a:r>
            <a:endParaRPr lang="en-US" sz="1100" dirty="0"/>
          </a:p>
        </p:txBody>
      </p:sp>
      <p:sp>
        <p:nvSpPr>
          <p:cNvPr id="16" name="Shape 13"/>
          <p:cNvSpPr/>
          <p:nvPr/>
        </p:nvSpPr>
        <p:spPr>
          <a:xfrm>
            <a:off x="1828800" y="1005840"/>
            <a:ext cx="1188720" cy="1051560"/>
          </a:xfrm>
          <a:prstGeom prst="rect">
            <a:avLst/>
          </a:prstGeom>
          <a:solidFill>
            <a:srgbClr val="FFFFFF"/>
          </a:solidFill>
          <a:ln w="9525">
            <a:solidFill>
              <a:srgbClr val="E3DCCB"/>
            </a:solidFill>
            <a:prstDash val="solid"/>
          </a:ln>
        </p:spPr>
        <p:txBody>
          <a:bodyPr/>
          <a:lstStyle/>
          <a:p>
            <a:endParaRPr lang="en-CN"/>
          </a:p>
        </p:txBody>
      </p:sp>
      <p:sp>
        <p:nvSpPr>
          <p:cNvPr id="17" name="Text 14"/>
          <p:cNvSpPr/>
          <p:nvPr/>
        </p:nvSpPr>
        <p:spPr>
          <a:xfrm>
            <a:off x="1828800" y="1051560"/>
            <a:ext cx="1188720" cy="594360"/>
          </a:xfrm>
          <a:prstGeom prst="rect">
            <a:avLst/>
          </a:prstGeom>
          <a:noFill/>
          <a:ln/>
        </p:spPr>
        <p:txBody>
          <a:bodyPr wrap="square" lIns="0" tIns="0" rIns="0" bIns="0" rtlCol="0" anchor="ctr"/>
          <a:lstStyle/>
          <a:p>
            <a:pPr marL="0" indent="0" algn="ctr">
              <a:buNone/>
            </a:pPr>
            <a:r>
              <a:rPr lang="en-US" sz="3200" b="1" dirty="0">
                <a:solidFill>
                  <a:srgbClr val="1F6FB2"/>
                </a:solidFill>
                <a:latin typeface="Microsoft YaHei" pitchFamily="34" charset="0"/>
                <a:ea typeface="Microsoft YaHei" pitchFamily="34" charset="-122"/>
                <a:cs typeface="Microsoft YaHei" pitchFamily="34" charset="-120"/>
              </a:rPr>
              <a:t>12</a:t>
            </a:r>
            <a:endParaRPr lang="en-US" sz="3200" dirty="0"/>
          </a:p>
        </p:txBody>
      </p:sp>
      <p:sp>
        <p:nvSpPr>
          <p:cNvPr id="18" name="Text 15"/>
          <p:cNvSpPr/>
          <p:nvPr/>
        </p:nvSpPr>
        <p:spPr>
          <a:xfrm>
            <a:off x="1828800" y="1673352"/>
            <a:ext cx="1188720" cy="274320"/>
          </a:xfrm>
          <a:prstGeom prst="rect">
            <a:avLst/>
          </a:prstGeom>
          <a:noFill/>
          <a:ln/>
        </p:spPr>
        <p:txBody>
          <a:bodyPr wrap="square" lIns="0" tIns="0" rIns="0" bIns="0" rtlCol="0" anchor="t">
            <a:normAutofit fontScale="59364"/>
          </a:bodyPr>
          <a:lstStyle/>
          <a:p>
            <a:pPr marL="0" indent="0" algn="ctr">
              <a:buNone/>
            </a:pPr>
            <a:r>
              <a:rPr lang="en-US" sz="1100" dirty="0">
                <a:solidFill>
                  <a:srgbClr val="6B7280"/>
                </a:solidFill>
                <a:latin typeface="Microsoft YaHei" pitchFamily="34" charset="0"/>
                <a:ea typeface="Microsoft YaHei" pitchFamily="34" charset="-122"/>
                <a:cs typeface="Microsoft YaHei" pitchFamily="34" charset="-120"/>
              </a:rPr>
              <a:t>Model predictions</a:t>
            </a:r>
            <a:endParaRPr lang="en-US" sz="1100" dirty="0"/>
          </a:p>
        </p:txBody>
      </p:sp>
      <p:sp>
        <p:nvSpPr>
          <p:cNvPr id="19" name="Shape 16"/>
          <p:cNvSpPr/>
          <p:nvPr/>
        </p:nvSpPr>
        <p:spPr>
          <a:xfrm>
            <a:off x="3200400" y="1005840"/>
            <a:ext cx="1188720" cy="1051560"/>
          </a:xfrm>
          <a:prstGeom prst="rect">
            <a:avLst/>
          </a:prstGeom>
          <a:solidFill>
            <a:srgbClr val="FFFFFF"/>
          </a:solidFill>
          <a:ln w="9525">
            <a:solidFill>
              <a:srgbClr val="E3DCCB"/>
            </a:solidFill>
            <a:prstDash val="solid"/>
          </a:ln>
        </p:spPr>
        <p:txBody>
          <a:bodyPr/>
          <a:lstStyle/>
          <a:p>
            <a:endParaRPr lang="en-CN"/>
          </a:p>
        </p:txBody>
      </p:sp>
      <p:sp>
        <p:nvSpPr>
          <p:cNvPr id="20" name="Text 17"/>
          <p:cNvSpPr/>
          <p:nvPr/>
        </p:nvSpPr>
        <p:spPr>
          <a:xfrm>
            <a:off x="3200400" y="1051560"/>
            <a:ext cx="1188720" cy="594360"/>
          </a:xfrm>
          <a:prstGeom prst="rect">
            <a:avLst/>
          </a:prstGeom>
          <a:noFill/>
          <a:ln/>
        </p:spPr>
        <p:txBody>
          <a:bodyPr wrap="square" lIns="0" tIns="0" rIns="0" bIns="0" rtlCol="0" anchor="ctr"/>
          <a:lstStyle/>
          <a:p>
            <a:pPr marL="0" indent="0" algn="ctr">
              <a:buNone/>
            </a:pPr>
            <a:r>
              <a:rPr lang="en-US" sz="3200" b="1" dirty="0">
                <a:solidFill>
                  <a:srgbClr val="2E8B57"/>
                </a:solidFill>
                <a:latin typeface="Microsoft YaHei" pitchFamily="34" charset="0"/>
                <a:ea typeface="Microsoft YaHei" pitchFamily="34" charset="-122"/>
                <a:cs typeface="Microsoft YaHei" pitchFamily="34" charset="-120"/>
              </a:rPr>
              <a:t>8</a:t>
            </a:r>
            <a:endParaRPr lang="en-US" sz="3200" dirty="0"/>
          </a:p>
        </p:txBody>
      </p:sp>
      <p:sp>
        <p:nvSpPr>
          <p:cNvPr id="21" name="Text 18"/>
          <p:cNvSpPr/>
          <p:nvPr/>
        </p:nvSpPr>
        <p:spPr>
          <a:xfrm>
            <a:off x="3200400" y="1673352"/>
            <a:ext cx="1188720" cy="274320"/>
          </a:xfrm>
          <a:prstGeom prst="rect">
            <a:avLst/>
          </a:prstGeom>
          <a:noFill/>
          <a:ln/>
        </p:spPr>
        <p:txBody>
          <a:bodyPr wrap="square" lIns="0" tIns="0" rIns="0" bIns="0" rtlCol="0" anchor="t"/>
          <a:lstStyle/>
          <a:p>
            <a:pPr marL="0" indent="0" algn="ctr">
              <a:buNone/>
            </a:pPr>
            <a:r>
              <a:rPr lang="en-US" sz="1100" dirty="0">
                <a:solidFill>
                  <a:srgbClr val="6B7280"/>
                </a:solidFill>
                <a:latin typeface="Microsoft YaHei" pitchFamily="34" charset="0"/>
                <a:ea typeface="Microsoft YaHei" pitchFamily="34" charset="-122"/>
                <a:cs typeface="Microsoft YaHei" pitchFamily="34" charset="-120"/>
              </a:rPr>
              <a:t>Matched</a:t>
            </a:r>
            <a:endParaRPr lang="en-US" sz="1100" dirty="0"/>
          </a:p>
        </p:txBody>
      </p:sp>
      <p:sp>
        <p:nvSpPr>
          <p:cNvPr id="22" name="Text 19"/>
          <p:cNvSpPr/>
          <p:nvPr/>
        </p:nvSpPr>
        <p:spPr>
          <a:xfrm>
            <a:off x="457200" y="2331720"/>
            <a:ext cx="3931920" cy="640080"/>
          </a:xfrm>
          <a:prstGeom prst="rect">
            <a:avLst/>
          </a:prstGeom>
          <a:noFill/>
          <a:ln/>
        </p:spPr>
        <p:txBody>
          <a:bodyPr wrap="square" lIns="0" tIns="0" rIns="0" bIns="0" rtlCol="0" anchor="t"/>
          <a:lstStyle/>
          <a:p>
            <a:pPr marL="0" indent="0">
              <a:buNone/>
            </a:pPr>
            <a:r>
              <a:rPr lang="en-US" sz="1600" b="1" dirty="0">
                <a:solidFill>
                  <a:srgbClr val="14213D"/>
                </a:solidFill>
                <a:latin typeface="Microsoft YaHei" pitchFamily="34" charset="0"/>
                <a:ea typeface="Microsoft YaHei" pitchFamily="34" charset="-122"/>
                <a:cs typeface="Microsoft YaHei" pitchFamily="34" charset="-120"/>
              </a:rPr>
              <a:t>Recall = 8 / 10 = 80%</a:t>
            </a:r>
            <a:endParaRPr lang="en-US" sz="1600" dirty="0"/>
          </a:p>
          <a:p>
            <a:pPr marL="0" indent="0">
              <a:buNone/>
            </a:pPr>
            <a:r>
              <a:rPr lang="en-US" sz="1100" dirty="0">
                <a:solidFill>
                  <a:srgbClr val="6B7280"/>
                </a:solidFill>
                <a:latin typeface="Microsoft YaHei" pitchFamily="34" charset="0"/>
                <a:ea typeface="Microsoft YaHei" pitchFamily="34" charset="-122"/>
                <a:cs typeface="Microsoft YaHei" pitchFamily="34" charset="-120"/>
              </a:rPr>
              <a:t>How many reference points were recovered</a:t>
            </a:r>
            <a:endParaRPr lang="en-US" sz="1600" dirty="0"/>
          </a:p>
        </p:txBody>
      </p:sp>
      <p:sp>
        <p:nvSpPr>
          <p:cNvPr id="23" name="Text 20"/>
          <p:cNvSpPr/>
          <p:nvPr/>
        </p:nvSpPr>
        <p:spPr>
          <a:xfrm>
            <a:off x="457200" y="3108960"/>
            <a:ext cx="3931920" cy="640080"/>
          </a:xfrm>
          <a:prstGeom prst="rect">
            <a:avLst/>
          </a:prstGeom>
          <a:noFill/>
          <a:ln/>
        </p:spPr>
        <p:txBody>
          <a:bodyPr wrap="square" lIns="0" tIns="0" rIns="0" bIns="0" rtlCol="0" anchor="t"/>
          <a:lstStyle/>
          <a:p>
            <a:pPr marL="0" indent="0">
              <a:buNone/>
            </a:pPr>
            <a:r>
              <a:rPr lang="en-US" sz="1600" b="1" dirty="0">
                <a:solidFill>
                  <a:srgbClr val="14213D"/>
                </a:solidFill>
                <a:latin typeface="Microsoft YaHei" pitchFamily="34" charset="0"/>
                <a:ea typeface="Microsoft YaHei" pitchFamily="34" charset="-122"/>
                <a:cs typeface="Microsoft YaHei" pitchFamily="34" charset="-120"/>
              </a:rPr>
              <a:t>Precision = 8 / 12 ≈ 66.7%</a:t>
            </a:r>
            <a:endParaRPr lang="en-US" sz="1600" dirty="0"/>
          </a:p>
          <a:p>
            <a:pPr marL="0" indent="0">
              <a:buNone/>
            </a:pPr>
            <a:r>
              <a:rPr lang="en-US" sz="1100" dirty="0">
                <a:solidFill>
                  <a:srgbClr val="6B7280"/>
                </a:solidFill>
                <a:latin typeface="Microsoft YaHei" pitchFamily="34" charset="0"/>
                <a:ea typeface="Microsoft YaHei" pitchFamily="34" charset="-122"/>
                <a:cs typeface="Microsoft YaHei" pitchFamily="34" charset="-120"/>
              </a:rPr>
              <a:t>How many reported points were correct</a:t>
            </a:r>
            <a:endParaRPr lang="en-US" sz="1600" dirty="0"/>
          </a:p>
        </p:txBody>
      </p:sp>
      <p:sp>
        <p:nvSpPr>
          <p:cNvPr id="24" name="Shape 21"/>
          <p:cNvSpPr/>
          <p:nvPr/>
        </p:nvSpPr>
        <p:spPr>
          <a:xfrm>
            <a:off x="4754880" y="1005840"/>
            <a:ext cx="3931920" cy="2834640"/>
          </a:xfrm>
          <a:prstGeom prst="rect">
            <a:avLst/>
          </a:prstGeom>
          <a:solidFill>
            <a:srgbClr val="FFFFFF"/>
          </a:solidFill>
          <a:ln w="9525">
            <a:solidFill>
              <a:srgbClr val="E3DCCB"/>
            </a:solidFill>
            <a:prstDash val="solid"/>
          </a:ln>
        </p:spPr>
        <p:txBody>
          <a:bodyPr/>
          <a:lstStyle/>
          <a:p>
            <a:endParaRPr lang="en-CN"/>
          </a:p>
        </p:txBody>
      </p:sp>
      <p:sp>
        <p:nvSpPr>
          <p:cNvPr id="25" name="Shape 22"/>
          <p:cNvSpPr/>
          <p:nvPr/>
        </p:nvSpPr>
        <p:spPr>
          <a:xfrm>
            <a:off x="4754880" y="1005840"/>
            <a:ext cx="64008" cy="2834640"/>
          </a:xfrm>
          <a:prstGeom prst="rect">
            <a:avLst/>
          </a:prstGeom>
          <a:solidFill>
            <a:srgbClr val="F2B705"/>
          </a:solidFill>
          <a:ln w="9525">
            <a:solidFill>
              <a:srgbClr val="F2B705"/>
            </a:solidFill>
            <a:prstDash val="solid"/>
          </a:ln>
        </p:spPr>
        <p:txBody>
          <a:bodyPr/>
          <a:lstStyle/>
          <a:p>
            <a:endParaRPr lang="en-CN"/>
          </a:p>
        </p:txBody>
      </p:sp>
      <p:sp>
        <p:nvSpPr>
          <p:cNvPr id="26" name="Text 23"/>
          <p:cNvSpPr/>
          <p:nvPr/>
        </p:nvSpPr>
        <p:spPr>
          <a:xfrm>
            <a:off x="4983480" y="1115568"/>
            <a:ext cx="3566160" cy="320040"/>
          </a:xfrm>
          <a:prstGeom prst="rect">
            <a:avLst/>
          </a:prstGeom>
          <a:noFill/>
          <a:ln/>
        </p:spPr>
        <p:txBody>
          <a:bodyPr wrap="square" lIns="0" tIns="0" rIns="0" bIns="0" rtlCol="0" anchor="t"/>
          <a:lstStyle/>
          <a:p>
            <a:pPr marL="0" indent="0">
              <a:buNone/>
            </a:pPr>
            <a:r>
              <a:rPr lang="en-US" sz="1500" b="1" dirty="0">
                <a:solidFill>
                  <a:srgbClr val="14213D"/>
                </a:solidFill>
                <a:latin typeface="Microsoft YaHei" pitchFamily="34" charset="0"/>
                <a:ea typeface="Microsoft YaHei" pitchFamily="34" charset="-122"/>
                <a:cs typeface="Microsoft YaHei" pitchFamily="34" charset="-120"/>
              </a:rPr>
              <a:t>Effect of data augmentation</a:t>
            </a:r>
            <a:endParaRPr lang="en-US" sz="1500" dirty="0"/>
          </a:p>
        </p:txBody>
      </p:sp>
      <p:sp>
        <p:nvSpPr>
          <p:cNvPr id="27" name="Text 24"/>
          <p:cNvSpPr/>
          <p:nvPr/>
        </p:nvSpPr>
        <p:spPr>
          <a:xfrm>
            <a:off x="4983480" y="1444752"/>
            <a:ext cx="3566160" cy="256032"/>
          </a:xfrm>
          <a:prstGeom prst="rect">
            <a:avLst/>
          </a:prstGeom>
          <a:noFill/>
          <a:ln/>
        </p:spPr>
        <p:txBody>
          <a:bodyPr wrap="square" lIns="0" tIns="0" rIns="0" bIns="0" rtlCol="0" anchor="t"/>
          <a:lstStyle/>
          <a:p>
            <a:pPr marL="0" indent="0">
              <a:buNone/>
            </a:pPr>
            <a:r>
              <a:rPr lang="en-US" sz="1000" dirty="0">
                <a:solidFill>
                  <a:srgbClr val="6B7280"/>
                </a:solidFill>
                <a:latin typeface="Microsoft YaHei" pitchFamily="34" charset="0"/>
                <a:ea typeface="Microsoft YaHei" pitchFamily="34" charset="-122"/>
                <a:cs typeface="Microsoft YaHei" pitchFamily="34" charset="-120"/>
              </a:rPr>
              <a:t>48 training photos · 20 development photos</a:t>
            </a:r>
            <a:endParaRPr lang="en-US" sz="1000" dirty="0"/>
          </a:p>
        </p:txBody>
      </p:sp>
      <p:sp>
        <p:nvSpPr>
          <p:cNvPr id="28" name="Text 25"/>
          <p:cNvSpPr/>
          <p:nvPr/>
        </p:nvSpPr>
        <p:spPr>
          <a:xfrm>
            <a:off x="4983480" y="1874520"/>
            <a:ext cx="914400" cy="457200"/>
          </a:xfrm>
          <a:prstGeom prst="rect">
            <a:avLst/>
          </a:prstGeom>
          <a:noFill/>
          <a:ln/>
        </p:spPr>
        <p:txBody>
          <a:bodyPr wrap="square" lIns="0" tIns="0" rIns="0" bIns="0" rtlCol="0" anchor="ct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Recall</a:t>
            </a:r>
            <a:endParaRPr lang="en-US" sz="1200" dirty="0"/>
          </a:p>
        </p:txBody>
      </p:sp>
      <p:sp>
        <p:nvSpPr>
          <p:cNvPr id="29" name="Text 26"/>
          <p:cNvSpPr/>
          <p:nvPr/>
        </p:nvSpPr>
        <p:spPr>
          <a:xfrm>
            <a:off x="5852160" y="1874520"/>
            <a:ext cx="2743200" cy="457200"/>
          </a:xfrm>
          <a:prstGeom prst="rect">
            <a:avLst/>
          </a:prstGeom>
          <a:noFill/>
          <a:ln/>
        </p:spPr>
        <p:txBody>
          <a:bodyPr wrap="square" lIns="0" tIns="0" rIns="0" bIns="0" rtlCol="0" anchor="ctr"/>
          <a:lstStyle/>
          <a:p>
            <a:pPr marL="0" indent="0">
              <a:buNone/>
            </a:pPr>
            <a:r>
              <a:rPr lang="en-US" sz="2400" b="1" dirty="0">
                <a:solidFill>
                  <a:srgbClr val="2E8B57"/>
                </a:solidFill>
                <a:latin typeface="Microsoft YaHei" pitchFamily="34" charset="0"/>
                <a:ea typeface="Microsoft YaHei" pitchFamily="34" charset="-122"/>
                <a:cs typeface="Microsoft YaHei" pitchFamily="34" charset="-120"/>
              </a:rPr>
              <a:t>69.3% → 85.0%</a:t>
            </a:r>
            <a:endParaRPr lang="en-US" sz="2400" dirty="0"/>
          </a:p>
        </p:txBody>
      </p:sp>
      <p:sp>
        <p:nvSpPr>
          <p:cNvPr id="30" name="Text 27"/>
          <p:cNvSpPr/>
          <p:nvPr/>
        </p:nvSpPr>
        <p:spPr>
          <a:xfrm>
            <a:off x="4983480" y="2468880"/>
            <a:ext cx="914400" cy="457200"/>
          </a:xfrm>
          <a:prstGeom prst="rect">
            <a:avLst/>
          </a:prstGeom>
          <a:noFill/>
          <a:ln/>
        </p:spPr>
        <p:txBody>
          <a:bodyPr wrap="square" lIns="0" tIns="0" rIns="0" bIns="0" rtlCol="0" anchor="ctr">
            <a:normAutofit fontScale="58671"/>
          </a:bodyP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Candidate points</a:t>
            </a:r>
            <a:endParaRPr lang="en-US" sz="1200" dirty="0"/>
          </a:p>
        </p:txBody>
      </p:sp>
      <p:sp>
        <p:nvSpPr>
          <p:cNvPr id="31" name="Text 28"/>
          <p:cNvSpPr/>
          <p:nvPr/>
        </p:nvSpPr>
        <p:spPr>
          <a:xfrm>
            <a:off x="5852160" y="2468880"/>
            <a:ext cx="2743200" cy="457200"/>
          </a:xfrm>
          <a:prstGeom prst="rect">
            <a:avLst/>
          </a:prstGeom>
          <a:noFill/>
          <a:ln/>
        </p:spPr>
        <p:txBody>
          <a:bodyPr wrap="square" lIns="0" tIns="0" rIns="0" bIns="0" rtlCol="0" anchor="ctr"/>
          <a:lstStyle/>
          <a:p>
            <a:pPr marL="0" indent="0">
              <a:buNone/>
            </a:pPr>
            <a:r>
              <a:rPr lang="en-US" sz="2400" b="1" dirty="0">
                <a:solidFill>
                  <a:srgbClr val="D62839"/>
                </a:solidFill>
                <a:latin typeface="Microsoft YaHei" pitchFamily="34" charset="0"/>
                <a:ea typeface="Microsoft YaHei" pitchFamily="34" charset="-122"/>
                <a:cs typeface="Microsoft YaHei" pitchFamily="34" charset="-120"/>
              </a:rPr>
              <a:t>263 → 622</a:t>
            </a:r>
            <a:endParaRPr lang="en-US" sz="2400" dirty="0"/>
          </a:p>
        </p:txBody>
      </p:sp>
      <p:sp>
        <p:nvSpPr>
          <p:cNvPr id="32" name="Text 29"/>
          <p:cNvSpPr/>
          <p:nvPr/>
        </p:nvSpPr>
        <p:spPr>
          <a:xfrm>
            <a:off x="4983480" y="3154680"/>
            <a:ext cx="3566160" cy="502920"/>
          </a:xfrm>
          <a:prstGeom prst="rect">
            <a:avLst/>
          </a:prstGeom>
          <a:noFill/>
          <a:ln/>
        </p:spPr>
        <p:txBody>
          <a:bodyPr wrap="square" lIns="0" tIns="0" rIns="0" bIns="0" rtlCol="0" anchor="t">
            <a:normAutofit fontScale="42976"/>
          </a:bodyPr>
          <a:lstStyle/>
          <a:p>
            <a:pPr marL="0" indent="0">
              <a:buNone/>
            </a:pPr>
            <a:r>
              <a:rPr lang="en-US" sz="1050" dirty="0">
                <a:solidFill>
                  <a:srgbClr val="6B7280"/>
                </a:solidFill>
                <a:latin typeface="Microsoft YaHei" pitchFamily="34" charset="0"/>
                <a:ea typeface="Microsoft YaHei" pitchFamily="34" charset="-122"/>
                <a:cs typeface="Microsoft YaHei" pitchFamily="34" charset="-120"/>
              </a:rPr>
              <a:t>Rotation, scaling, and brightness/contrast changes, with entry-point coordinates transformed accordingly</a:t>
            </a:r>
            <a:endParaRPr lang="en-US" sz="1050" dirty="0"/>
          </a:p>
        </p:txBody>
      </p:sp>
      <p:sp>
        <p:nvSpPr>
          <p:cNvPr id="33" name="Text 30"/>
          <p:cNvSpPr/>
          <p:nvPr/>
        </p:nvSpPr>
        <p:spPr>
          <a:xfrm>
            <a:off x="457200" y="4160520"/>
            <a:ext cx="8229600" cy="365760"/>
          </a:xfrm>
          <a:prstGeom prst="rect">
            <a:avLst/>
          </a:prstGeom>
          <a:noFill/>
          <a:ln/>
        </p:spPr>
        <p:txBody>
          <a:bodyPr wrap="square" lIns="0" tIns="0" rIns="0" bIns="0" rtlCol="0" anchor="t">
            <a:normAutofit fontScale="57055"/>
          </a:bodyPr>
          <a:lstStyle/>
          <a:p>
            <a:pPr marL="0" indent="0">
              <a:buNone/>
            </a:pPr>
            <a:r>
              <a:rPr lang="en-US" sz="1500" b="1" dirty="0">
                <a:solidFill>
                  <a:srgbClr val="14213D"/>
                </a:solidFill>
                <a:latin typeface="Microsoft YaHei" pitchFamily="34" charset="0"/>
                <a:ea typeface="Microsoft YaHei" pitchFamily="34" charset="-122"/>
                <a:cs typeface="Microsoft YaHei" pitchFamily="34" charset="-120"/>
              </a:rPr>
              <a:t>Reporting more points reduces missed arrows, but is not the same as being more accurate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err="1">
                <a:solidFill>
                  <a:srgbClr val="14213D"/>
                </a:solidFill>
                <a:latin typeface="Microsoft YaHei" pitchFamily="34" charset="0"/>
                <a:ea typeface="Microsoft YaHei" pitchFamily="34" charset="-122"/>
                <a:cs typeface="Microsoft YaHei" pitchFamily="34" charset="-120"/>
              </a:rPr>
              <a:t>Optimization: Adding a Candidate Verifier, "One More Look"</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Shape 5"/>
          <p:cNvSpPr/>
          <p:nvPr/>
        </p:nvSpPr>
        <p:spPr>
          <a:xfrm>
            <a:off x="7406640"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8" name="Text 6"/>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Heatmap</a:t>
            </a:r>
            <a:endParaRPr lang="en-US" sz="1000" dirty="0"/>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10</a:t>
            </a:r>
            <a:endParaRPr lang="en-US" sz="900" dirty="0"/>
          </a:p>
        </p:txBody>
      </p:sp>
      <p:sp>
        <p:nvSpPr>
          <p:cNvPr id="13" name="Shape 10"/>
          <p:cNvSpPr/>
          <p:nvPr/>
        </p:nvSpPr>
        <p:spPr>
          <a:xfrm>
            <a:off x="457200" y="1097280"/>
            <a:ext cx="1645920" cy="960120"/>
          </a:xfrm>
          <a:prstGeom prst="rect">
            <a:avLst/>
          </a:prstGeom>
          <a:solidFill>
            <a:srgbClr val="FFFFFF"/>
          </a:solidFill>
          <a:ln w="9525">
            <a:solidFill>
              <a:srgbClr val="E3DCCB"/>
            </a:solidFill>
            <a:prstDash val="solid"/>
          </a:ln>
        </p:spPr>
        <p:txBody>
          <a:bodyPr/>
          <a:lstStyle/>
          <a:p>
            <a:endParaRPr lang="en-CN"/>
          </a:p>
        </p:txBody>
      </p:sp>
      <p:sp>
        <p:nvSpPr>
          <p:cNvPr id="14" name="Text 11"/>
          <p:cNvSpPr/>
          <p:nvPr/>
        </p:nvSpPr>
        <p:spPr>
          <a:xfrm>
            <a:off x="457200" y="1097280"/>
            <a:ext cx="1645920" cy="960120"/>
          </a:xfrm>
          <a:prstGeom prst="rect">
            <a:avLst/>
          </a:prstGeom>
          <a:noFill/>
          <a:ln/>
        </p:spPr>
        <p:txBody>
          <a:bodyPr wrap="square" lIns="0" tIns="0" rIns="0" bIns="0" rtlCol="0" anchor="ctr"/>
          <a:lstStyle/>
          <a:p>
            <a:pPr marL="0" indent="0" algn="ctr">
              <a:buNone/>
            </a:pPr>
            <a:r>
              <a:rPr lang="en-US" sz="1500" b="1" dirty="0">
                <a:solidFill>
                  <a:srgbClr val="14213D"/>
                </a:solidFill>
                <a:latin typeface="Microsoft YaHei" pitchFamily="34" charset="0"/>
                <a:ea typeface="Microsoft YaHei" pitchFamily="34" charset="-122"/>
                <a:cs typeface="Microsoft YaHei" pitchFamily="34" charset="-120"/>
              </a:rPr>
              <a:t>Photo</a:t>
            </a:r>
            <a:endParaRPr lang="en-US" sz="1500" dirty="0"/>
          </a:p>
        </p:txBody>
      </p:sp>
      <p:sp>
        <p:nvSpPr>
          <p:cNvPr id="15" name="Shape 12"/>
          <p:cNvSpPr/>
          <p:nvPr/>
        </p:nvSpPr>
        <p:spPr>
          <a:xfrm>
            <a:off x="2194560" y="1389888"/>
            <a:ext cx="365760" cy="365760"/>
          </a:xfrm>
          <a:prstGeom prst="rightArrow">
            <a:avLst/>
          </a:prstGeom>
          <a:solidFill>
            <a:srgbClr val="F2B705"/>
          </a:solidFill>
          <a:ln w="12700">
            <a:solidFill>
              <a:srgbClr val="F2B705"/>
            </a:solidFill>
            <a:prstDash val="solid"/>
          </a:ln>
        </p:spPr>
        <p:txBody>
          <a:bodyPr/>
          <a:lstStyle/>
          <a:p>
            <a:endParaRPr lang="en-CN"/>
          </a:p>
        </p:txBody>
      </p:sp>
      <p:sp>
        <p:nvSpPr>
          <p:cNvPr id="16" name="Shape 13"/>
          <p:cNvSpPr/>
          <p:nvPr/>
        </p:nvSpPr>
        <p:spPr>
          <a:xfrm>
            <a:off x="2651760" y="1097280"/>
            <a:ext cx="1645920" cy="960120"/>
          </a:xfrm>
          <a:prstGeom prst="rect">
            <a:avLst/>
          </a:prstGeom>
          <a:solidFill>
            <a:srgbClr val="FFFFFF"/>
          </a:solidFill>
          <a:ln w="9525">
            <a:solidFill>
              <a:srgbClr val="E3DCCB"/>
            </a:solidFill>
            <a:prstDash val="solid"/>
          </a:ln>
        </p:spPr>
        <p:txBody>
          <a:bodyPr/>
          <a:lstStyle/>
          <a:p>
            <a:endParaRPr lang="en-CN"/>
          </a:p>
        </p:txBody>
      </p:sp>
      <p:sp>
        <p:nvSpPr>
          <p:cNvPr id="17" name="Text 14"/>
          <p:cNvSpPr/>
          <p:nvPr/>
        </p:nvSpPr>
        <p:spPr>
          <a:xfrm>
            <a:off x="2651760" y="1097280"/>
            <a:ext cx="1645920" cy="960120"/>
          </a:xfrm>
          <a:prstGeom prst="rect">
            <a:avLst/>
          </a:prstGeom>
          <a:noFill/>
          <a:ln/>
        </p:spPr>
        <p:txBody>
          <a:bodyPr wrap="square" lIns="0" tIns="0" rIns="0" bIns="0" rtlCol="0" anchor="ctr">
            <a:normAutofit fontScale="53994"/>
          </a:bodyPr>
          <a:lstStyle/>
          <a:p>
            <a:pPr marL="0" indent="0" algn="ctr">
              <a:buNone/>
            </a:pPr>
            <a:r>
              <a:rPr lang="en-US" sz="1500" b="1" dirty="0">
                <a:solidFill>
                  <a:srgbClr val="14213D"/>
                </a:solidFill>
                <a:latin typeface="Microsoft YaHei" pitchFamily="34" charset="0"/>
                <a:ea typeface="Microsoft YaHei" pitchFamily="34" charset="-122"/>
                <a:cs typeface="Microsoft YaHei" pitchFamily="34" charset="-120"/>
              </a:rPr>
              <a:t>Heatmap model</a:t>
            </a:r>
            <a:endParaRPr lang="en-US" sz="1500" dirty="0"/>
          </a:p>
          <a:p>
            <a:pPr marL="0" indent="0" algn="ctr">
              <a:buNone/>
            </a:pPr>
            <a:r>
              <a:rPr lang="en-US" sz="1100" dirty="0">
                <a:solidFill>
                  <a:srgbClr val="14213D"/>
                </a:solidFill>
                <a:latin typeface="Microsoft YaHei" pitchFamily="34" charset="0"/>
                <a:ea typeface="Microsoft YaHei" pitchFamily="34" charset="-122"/>
                <a:cs typeface="Microsoft YaHei" pitchFamily="34" charset="-120"/>
              </a:rPr>
              <a:t>finds candidate points</a:t>
            </a:r>
            <a:endParaRPr lang="en-US" sz="1500" dirty="0"/>
          </a:p>
        </p:txBody>
      </p:sp>
      <p:sp>
        <p:nvSpPr>
          <p:cNvPr id="18" name="Shape 15"/>
          <p:cNvSpPr/>
          <p:nvPr/>
        </p:nvSpPr>
        <p:spPr>
          <a:xfrm>
            <a:off x="4389120" y="1389888"/>
            <a:ext cx="365760" cy="365760"/>
          </a:xfrm>
          <a:prstGeom prst="rightArrow">
            <a:avLst/>
          </a:prstGeom>
          <a:solidFill>
            <a:srgbClr val="F2B705"/>
          </a:solidFill>
          <a:ln w="12700">
            <a:solidFill>
              <a:srgbClr val="F2B705"/>
            </a:solidFill>
            <a:prstDash val="solid"/>
          </a:ln>
        </p:spPr>
        <p:txBody>
          <a:bodyPr/>
          <a:lstStyle/>
          <a:p>
            <a:endParaRPr lang="en-CN"/>
          </a:p>
        </p:txBody>
      </p:sp>
      <p:sp>
        <p:nvSpPr>
          <p:cNvPr id="19" name="Shape 16"/>
          <p:cNvSpPr/>
          <p:nvPr/>
        </p:nvSpPr>
        <p:spPr>
          <a:xfrm>
            <a:off x="4846320" y="1097280"/>
            <a:ext cx="1645920" cy="960120"/>
          </a:xfrm>
          <a:prstGeom prst="rect">
            <a:avLst/>
          </a:prstGeom>
          <a:solidFill>
            <a:srgbClr val="14213D"/>
          </a:solidFill>
          <a:ln w="9525">
            <a:solidFill>
              <a:srgbClr val="14213D"/>
            </a:solidFill>
            <a:prstDash val="solid"/>
          </a:ln>
        </p:spPr>
        <p:txBody>
          <a:bodyPr/>
          <a:lstStyle/>
          <a:p>
            <a:endParaRPr lang="en-CN"/>
          </a:p>
        </p:txBody>
      </p:sp>
      <p:sp>
        <p:nvSpPr>
          <p:cNvPr id="20" name="Text 17"/>
          <p:cNvSpPr/>
          <p:nvPr/>
        </p:nvSpPr>
        <p:spPr>
          <a:xfrm>
            <a:off x="4846320" y="1097280"/>
            <a:ext cx="1645920" cy="960120"/>
          </a:xfrm>
          <a:prstGeom prst="rect">
            <a:avLst/>
          </a:prstGeom>
          <a:noFill/>
          <a:ln/>
        </p:spPr>
        <p:txBody>
          <a:bodyPr wrap="square" lIns="0" tIns="0" rIns="0" bIns="0" rtlCol="0" anchor="ctr">
            <a:normAutofit fontScale="72873"/>
          </a:bodyPr>
          <a:lstStyle/>
          <a:p>
            <a:pPr marL="0" indent="0" algn="ctr">
              <a:buNone/>
            </a:pPr>
            <a:r>
              <a:rPr lang="en-US" sz="1500" b="1" dirty="0">
                <a:solidFill>
                  <a:srgbClr val="FFFFFF"/>
                </a:solidFill>
                <a:latin typeface="Microsoft YaHei" pitchFamily="34" charset="0"/>
                <a:ea typeface="Microsoft YaHei" pitchFamily="34" charset="-122"/>
                <a:cs typeface="Microsoft YaHei" pitchFamily="34" charset="-120"/>
              </a:rPr>
              <a:t>Verifier</a:t>
            </a:r>
            <a:endParaRPr lang="en-US" sz="1500" dirty="0"/>
          </a:p>
          <a:p>
            <a:pPr marL="0" indent="0" algn="ctr">
              <a:buNone/>
            </a:pPr>
            <a:r>
              <a:rPr lang="en-US" sz="1100" dirty="0">
                <a:solidFill>
                  <a:srgbClr val="FFFFFF"/>
                </a:solidFill>
                <a:latin typeface="Microsoft YaHei" pitchFamily="34" charset="0"/>
                <a:ea typeface="Microsoft YaHei" pitchFamily="34" charset="-122"/>
                <a:cs typeface="Microsoft YaHei" pitchFamily="34" charset="-120"/>
              </a:rPr>
              <a:t>examines local patches</a:t>
            </a:r>
            <a:endParaRPr lang="en-US" sz="1500" dirty="0"/>
          </a:p>
        </p:txBody>
      </p:sp>
      <p:sp>
        <p:nvSpPr>
          <p:cNvPr id="21" name="Shape 18"/>
          <p:cNvSpPr/>
          <p:nvPr/>
        </p:nvSpPr>
        <p:spPr>
          <a:xfrm>
            <a:off x="6583680" y="1389888"/>
            <a:ext cx="365760" cy="365760"/>
          </a:xfrm>
          <a:prstGeom prst="rightArrow">
            <a:avLst/>
          </a:prstGeom>
          <a:solidFill>
            <a:srgbClr val="F2B705"/>
          </a:solidFill>
          <a:ln w="12700">
            <a:solidFill>
              <a:srgbClr val="F2B705"/>
            </a:solidFill>
            <a:prstDash val="solid"/>
          </a:ln>
        </p:spPr>
        <p:txBody>
          <a:bodyPr/>
          <a:lstStyle/>
          <a:p>
            <a:endParaRPr lang="en-CN"/>
          </a:p>
        </p:txBody>
      </p:sp>
      <p:sp>
        <p:nvSpPr>
          <p:cNvPr id="22" name="Shape 19"/>
          <p:cNvSpPr/>
          <p:nvPr/>
        </p:nvSpPr>
        <p:spPr>
          <a:xfrm>
            <a:off x="7040880" y="1097280"/>
            <a:ext cx="1645920" cy="960120"/>
          </a:xfrm>
          <a:prstGeom prst="rect">
            <a:avLst/>
          </a:prstGeom>
          <a:solidFill>
            <a:srgbClr val="FFFFFF"/>
          </a:solidFill>
          <a:ln w="9525">
            <a:solidFill>
              <a:srgbClr val="E3DCCB"/>
            </a:solidFill>
            <a:prstDash val="solid"/>
          </a:ln>
        </p:spPr>
        <p:txBody>
          <a:bodyPr/>
          <a:lstStyle/>
          <a:p>
            <a:endParaRPr lang="en-CN"/>
          </a:p>
        </p:txBody>
      </p:sp>
      <p:sp>
        <p:nvSpPr>
          <p:cNvPr id="23" name="Text 20"/>
          <p:cNvSpPr/>
          <p:nvPr/>
        </p:nvSpPr>
        <p:spPr>
          <a:xfrm>
            <a:off x="7040880" y="1097280"/>
            <a:ext cx="1645920" cy="960120"/>
          </a:xfrm>
          <a:prstGeom prst="rect">
            <a:avLst/>
          </a:prstGeom>
          <a:noFill/>
          <a:ln/>
        </p:spPr>
        <p:txBody>
          <a:bodyPr wrap="square" lIns="0" tIns="0" rIns="0" bIns="0" rtlCol="0" anchor="ctr">
            <a:normAutofit fontScale="95000"/>
          </a:bodyPr>
          <a:lstStyle/>
          <a:p>
            <a:pPr marL="0" indent="0" algn="ctr">
              <a:buNone/>
            </a:pPr>
            <a:r>
              <a:rPr lang="en-US" sz="1500" b="1" dirty="0">
                <a:solidFill>
                  <a:srgbClr val="14213D"/>
                </a:solidFill>
                <a:latin typeface="Microsoft YaHei" pitchFamily="34" charset="0"/>
                <a:ea typeface="Microsoft YaHei" pitchFamily="34" charset="-122"/>
                <a:cs typeface="Microsoft YaHei" pitchFamily="34" charset="-120"/>
              </a:rPr>
              <a:t>Keep / discard</a:t>
            </a:r>
            <a:endParaRPr lang="en-US" sz="1500" dirty="0"/>
          </a:p>
        </p:txBody>
      </p:sp>
      <p:sp>
        <p:nvSpPr>
          <p:cNvPr id="24" name="Text 21"/>
          <p:cNvSpPr/>
          <p:nvPr/>
        </p:nvSpPr>
        <p:spPr>
          <a:xfrm>
            <a:off x="457200" y="2423160"/>
            <a:ext cx="3931920" cy="731520"/>
          </a:xfrm>
          <a:prstGeom prst="rect">
            <a:avLst/>
          </a:prstGeom>
          <a:noFill/>
          <a:ln/>
        </p:spPr>
        <p:txBody>
          <a:bodyPr wrap="square" lIns="0" tIns="0" rIns="0" bIns="0" rtlCol="0" anchor="ctr"/>
          <a:lstStyle/>
          <a:p>
            <a:pPr marL="0" indent="0">
              <a:buNone/>
            </a:pPr>
            <a:r>
              <a:rPr lang="en-US" sz="4000" b="1" dirty="0">
                <a:solidFill>
                  <a:srgbClr val="14213D"/>
                </a:solidFill>
                <a:latin typeface="Microsoft YaHei" pitchFamily="34" charset="0"/>
                <a:ea typeface="Microsoft YaHei" pitchFamily="34" charset="-122"/>
                <a:cs typeface="Microsoft YaHei" pitchFamily="34" charset="-120"/>
              </a:rPr>
              <a:t>1087 → 721</a:t>
            </a:r>
            <a:endParaRPr lang="en-US" sz="4000" dirty="0"/>
          </a:p>
        </p:txBody>
      </p:sp>
      <p:sp>
        <p:nvSpPr>
          <p:cNvPr id="25" name="Text 22"/>
          <p:cNvSpPr/>
          <p:nvPr/>
        </p:nvSpPr>
        <p:spPr>
          <a:xfrm>
            <a:off x="457200" y="3154680"/>
            <a:ext cx="3931920" cy="274320"/>
          </a:xfrm>
          <a:prstGeom prst="rect">
            <a:avLst/>
          </a:prstGeom>
          <a:noFill/>
          <a:ln/>
        </p:spPr>
        <p:txBody>
          <a:bodyPr wrap="square" lIns="0" tIns="0" rIns="0" bIns="0" rtlCol="0" anchor="t">
            <a:normAutofit fontScale="93632"/>
          </a:bodyPr>
          <a:lstStyle/>
          <a:p>
            <a:pPr marL="0" indent="0">
              <a:buNone/>
            </a:pPr>
            <a:r>
              <a:rPr lang="en-US" sz="1200" dirty="0">
                <a:solidFill>
                  <a:srgbClr val="6B7280"/>
                </a:solidFill>
                <a:latin typeface="Microsoft YaHei" pitchFamily="34" charset="0"/>
                <a:ea typeface="Microsoft YaHei" pitchFamily="34" charset="-122"/>
                <a:cs typeface="Microsoft YaHei" pitchFamily="34" charset="-120"/>
              </a:rPr>
              <a:t>Fewer candidate points (20 development photos)</a:t>
            </a:r>
            <a:endParaRPr lang="en-US" sz="1200" dirty="0"/>
          </a:p>
        </p:txBody>
      </p:sp>
      <p:sp>
        <p:nvSpPr>
          <p:cNvPr id="26" name="Text 23"/>
          <p:cNvSpPr/>
          <p:nvPr/>
        </p:nvSpPr>
        <p:spPr>
          <a:xfrm>
            <a:off x="4754880" y="2423160"/>
            <a:ext cx="3931920" cy="731520"/>
          </a:xfrm>
          <a:prstGeom prst="rect">
            <a:avLst/>
          </a:prstGeom>
          <a:noFill/>
          <a:ln/>
        </p:spPr>
        <p:txBody>
          <a:bodyPr wrap="square" lIns="0" tIns="0" rIns="0" bIns="0" rtlCol="0" anchor="ctr"/>
          <a:lstStyle/>
          <a:p>
            <a:pPr marL="0" indent="0">
              <a:buNone/>
            </a:pPr>
            <a:r>
              <a:rPr lang="en-US" sz="4000" b="1" dirty="0">
                <a:solidFill>
                  <a:srgbClr val="2E8B57"/>
                </a:solidFill>
                <a:latin typeface="Microsoft YaHei" pitchFamily="34" charset="0"/>
                <a:ea typeface="Microsoft YaHei" pitchFamily="34" charset="-122"/>
                <a:cs typeface="Microsoft YaHei" pitchFamily="34" charset="-120"/>
              </a:rPr>
              <a:t>127 / 140</a:t>
            </a:r>
            <a:endParaRPr lang="en-US" sz="4000" dirty="0"/>
          </a:p>
        </p:txBody>
      </p:sp>
      <p:sp>
        <p:nvSpPr>
          <p:cNvPr id="27" name="Text 24"/>
          <p:cNvSpPr/>
          <p:nvPr/>
        </p:nvSpPr>
        <p:spPr>
          <a:xfrm>
            <a:off x="4754880" y="3154680"/>
            <a:ext cx="3931920" cy="274320"/>
          </a:xfrm>
          <a:prstGeom prst="rect">
            <a:avLst/>
          </a:prstGeom>
          <a:noFill/>
          <a:ln/>
        </p:spPr>
        <p:txBody>
          <a:bodyPr wrap="square" lIns="0" tIns="0" rIns="0" bIns="0" rtlCol="0" anchor="t"/>
          <a:lstStyle/>
          <a:p>
            <a:pPr marL="0" indent="0">
              <a:buNone/>
            </a:pPr>
            <a:r>
              <a:rPr lang="en-US" sz="1200" dirty="0">
                <a:solidFill>
                  <a:srgbClr val="6B7280"/>
                </a:solidFill>
                <a:latin typeface="Microsoft YaHei" pitchFamily="34" charset="0"/>
                <a:ea typeface="Microsoft YaHei" pitchFamily="34" charset="-122"/>
                <a:cs typeface="Microsoft YaHei" pitchFamily="34" charset="-120"/>
              </a:rPr>
              <a:t>Matched count unchanged</a:t>
            </a:r>
            <a:endParaRPr lang="en-US" sz="1200" dirty="0"/>
          </a:p>
        </p:txBody>
      </p:sp>
      <p:sp>
        <p:nvSpPr>
          <p:cNvPr id="28" name="Shape 25"/>
          <p:cNvSpPr/>
          <p:nvPr/>
        </p:nvSpPr>
        <p:spPr>
          <a:xfrm>
            <a:off x="457200" y="3749040"/>
            <a:ext cx="8229600" cy="822960"/>
          </a:xfrm>
          <a:prstGeom prst="rect">
            <a:avLst/>
          </a:prstGeom>
          <a:solidFill>
            <a:srgbClr val="FFFFFF"/>
          </a:solidFill>
          <a:ln w="9525">
            <a:solidFill>
              <a:srgbClr val="E3DCCB"/>
            </a:solidFill>
            <a:prstDash val="solid"/>
          </a:ln>
        </p:spPr>
        <p:txBody>
          <a:bodyPr/>
          <a:lstStyle/>
          <a:p>
            <a:endParaRPr lang="en-CN"/>
          </a:p>
        </p:txBody>
      </p:sp>
      <p:sp>
        <p:nvSpPr>
          <p:cNvPr id="29" name="Shape 26"/>
          <p:cNvSpPr/>
          <p:nvPr/>
        </p:nvSpPr>
        <p:spPr>
          <a:xfrm>
            <a:off x="457200" y="3749040"/>
            <a:ext cx="64008" cy="822960"/>
          </a:xfrm>
          <a:prstGeom prst="rect">
            <a:avLst/>
          </a:prstGeom>
          <a:solidFill>
            <a:srgbClr val="F2B705"/>
          </a:solidFill>
          <a:ln w="9525">
            <a:solidFill>
              <a:srgbClr val="F2B705"/>
            </a:solidFill>
            <a:prstDash val="solid"/>
          </a:ln>
        </p:spPr>
        <p:txBody>
          <a:bodyPr/>
          <a:lstStyle/>
          <a:p>
            <a:endParaRPr lang="en-CN"/>
          </a:p>
        </p:txBody>
      </p:sp>
      <p:sp>
        <p:nvSpPr>
          <p:cNvPr id="30" name="Text 27"/>
          <p:cNvSpPr/>
          <p:nvPr/>
        </p:nvSpPr>
        <p:spPr>
          <a:xfrm>
            <a:off x="685800" y="3749040"/>
            <a:ext cx="7863840" cy="822960"/>
          </a:xfrm>
          <a:prstGeom prst="rect">
            <a:avLst/>
          </a:prstGeom>
          <a:noFill/>
          <a:ln/>
        </p:spPr>
        <p:txBody>
          <a:bodyPr wrap="square" lIns="0" tIns="0" rIns="0" bIns="0" rtlCol="0" anchor="ctr"/>
          <a:lstStyle/>
          <a:p>
            <a:pPr marL="0" indent="0">
              <a:spcAft>
                <a:spcPts val="300"/>
              </a:spcAft>
              <a:buNone/>
            </a:pPr>
            <a:r>
              <a:rPr lang="en-US" sz="1200" dirty="0" err="1">
                <a:solidFill>
                  <a:srgbClr val="1F2933"/>
                </a:solidFill>
                <a:latin typeface="Microsoft YaHei" pitchFamily="34" charset="0"/>
                <a:ea typeface="Microsoft YaHei" pitchFamily="34" charset="-122"/>
                <a:cs typeface="Microsoft YaHei" pitchFamily="34" charset="-120"/>
              </a:rPr>
              <a:t>A verifier can only filter candidates: it cannot recover missed points or move coordinates.</a:t>
            </a:r>
            <a:endParaRPr lang="en-US" sz="1200" dirty="0"/>
          </a:p>
          <a:p>
            <a:pPr marL="0" indent="0">
              <a:spcAft>
                <a:spcPts val="300"/>
              </a:spcAft>
              <a:buNone/>
            </a:pPr>
            <a:r>
              <a:rPr lang="en-US" sz="1200" b="1" dirty="0" err="1">
                <a:solidFill>
                  <a:srgbClr val="14213D"/>
                </a:solidFill>
                <a:latin typeface="Microsoft YaHei" pitchFamily="34" charset="0"/>
                <a:ea typeface="Microsoft YaHei" pitchFamily="34" charset="-122"/>
                <a:cs typeface="Microsoft YaHei" pitchFamily="34" charset="-120"/>
              </a:rPr>
              <a:t>Problem: too many redundant candidates remain → look for another model as a baseline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err="1">
                <a:solidFill>
                  <a:srgbClr val="14213D"/>
                </a:solidFill>
                <a:latin typeface="Microsoft YaHei" pitchFamily="34" charset="0"/>
                <a:ea typeface="Microsoft YaHei" pitchFamily="34" charset="-122"/>
                <a:cs typeface="Microsoft YaHei" pitchFamily="34" charset="-120"/>
              </a:rPr>
              <a:t>Further Optimization: Introducing an Off-the-Shelf YOLO-NAS Model</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Shape 6"/>
          <p:cNvSpPr/>
          <p:nvPr/>
        </p:nvSpPr>
        <p:spPr>
          <a:xfrm>
            <a:off x="7845552"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11</a:t>
            </a:r>
            <a:endParaRPr lang="en-US" sz="900" dirty="0"/>
          </a:p>
        </p:txBody>
      </p:sp>
      <p:sp>
        <p:nvSpPr>
          <p:cNvPr id="13" name="Shape 10"/>
          <p:cNvSpPr/>
          <p:nvPr/>
        </p:nvSpPr>
        <p:spPr>
          <a:xfrm>
            <a:off x="457200" y="960120"/>
            <a:ext cx="3931920" cy="1024128"/>
          </a:xfrm>
          <a:prstGeom prst="rect">
            <a:avLst/>
          </a:prstGeom>
          <a:solidFill>
            <a:srgbClr val="FFFFFF"/>
          </a:solidFill>
          <a:ln w="9525">
            <a:solidFill>
              <a:srgbClr val="E3DCCB"/>
            </a:solidFill>
            <a:prstDash val="solid"/>
          </a:ln>
        </p:spPr>
        <p:txBody>
          <a:bodyPr/>
          <a:lstStyle/>
          <a:p>
            <a:endParaRPr lang="en-CN"/>
          </a:p>
        </p:txBody>
      </p:sp>
      <p:sp>
        <p:nvSpPr>
          <p:cNvPr id="14" name="Shape 11"/>
          <p:cNvSpPr/>
          <p:nvPr/>
        </p:nvSpPr>
        <p:spPr>
          <a:xfrm>
            <a:off x="457200" y="960120"/>
            <a:ext cx="64008" cy="1024128"/>
          </a:xfrm>
          <a:prstGeom prst="rect">
            <a:avLst/>
          </a:prstGeom>
          <a:solidFill>
            <a:srgbClr val="D62839"/>
          </a:solidFill>
          <a:ln w="9525">
            <a:solidFill>
              <a:srgbClr val="D62839"/>
            </a:solidFill>
            <a:prstDash val="solid"/>
          </a:ln>
        </p:spPr>
        <p:txBody>
          <a:bodyPr/>
          <a:lstStyle/>
          <a:p>
            <a:endParaRPr lang="en-CN"/>
          </a:p>
        </p:txBody>
      </p:sp>
      <p:sp>
        <p:nvSpPr>
          <p:cNvPr id="15" name="Text 12"/>
          <p:cNvSpPr/>
          <p:nvPr/>
        </p:nvSpPr>
        <p:spPr>
          <a:xfrm>
            <a:off x="685800" y="1051560"/>
            <a:ext cx="3566160" cy="274320"/>
          </a:xfrm>
          <a:prstGeom prst="rect">
            <a:avLst/>
          </a:prstGeom>
          <a:noFill/>
          <a:ln/>
        </p:spPr>
        <p:txBody>
          <a:bodyPr wrap="square" lIns="0" tIns="0" rIns="0" bIns="0" rtlCol="0" anchor="t">
            <a:normAutofit/>
          </a:bodyPr>
          <a:lstStyle/>
          <a:p>
            <a:pPr marL="0" indent="0">
              <a:buNone/>
            </a:pPr>
            <a:r>
              <a:rPr lang="en-US" sz="1400" b="1" dirty="0">
                <a:solidFill>
                  <a:srgbClr val="D62839"/>
                </a:solidFill>
                <a:latin typeface="Microsoft YaHei" pitchFamily="34" charset="0"/>
                <a:ea typeface="Microsoft YaHei" pitchFamily="34" charset="-122"/>
                <a:cs typeface="Microsoft YaHei" pitchFamily="34" charset="-120"/>
              </a:rPr>
              <a:t>Source</a:t>
            </a:r>
            <a:endParaRPr lang="en-US" sz="1400" dirty="0"/>
          </a:p>
        </p:txBody>
      </p:sp>
      <p:sp>
        <p:nvSpPr>
          <p:cNvPr id="16" name="Text 13"/>
          <p:cNvSpPr/>
          <p:nvPr/>
        </p:nvSpPr>
        <p:spPr>
          <a:xfrm>
            <a:off x="685800" y="1344168"/>
            <a:ext cx="3566160" cy="594360"/>
          </a:xfrm>
          <a:prstGeom prst="rect">
            <a:avLst/>
          </a:prstGeom>
          <a:noFill/>
          <a:ln/>
        </p:spPr>
        <p:txBody>
          <a:bodyPr wrap="square" lIns="0" tIns="0" rIns="0" bIns="0" rtlCol="0" anchor="t"/>
          <a:lstStyle/>
          <a:p>
            <a:r>
              <a:rPr lang="en-US" sz="1150" dirty="0" err="1"/>
              <a:t>Based on the pretrained YOLO-NAS model</a:t>
            </a:r>
            <a:endParaRPr lang="en-US" sz="1150" dirty="0"/>
          </a:p>
        </p:txBody>
      </p:sp>
      <p:sp>
        <p:nvSpPr>
          <p:cNvPr id="17" name="Shape 14"/>
          <p:cNvSpPr/>
          <p:nvPr/>
        </p:nvSpPr>
        <p:spPr>
          <a:xfrm>
            <a:off x="457200" y="2148840"/>
            <a:ext cx="3931920" cy="1024128"/>
          </a:xfrm>
          <a:prstGeom prst="rect">
            <a:avLst/>
          </a:prstGeom>
          <a:solidFill>
            <a:srgbClr val="FFFFFF"/>
          </a:solidFill>
          <a:ln w="9525">
            <a:solidFill>
              <a:srgbClr val="E3DCCB"/>
            </a:solidFill>
            <a:prstDash val="solid"/>
          </a:ln>
        </p:spPr>
        <p:txBody>
          <a:bodyPr/>
          <a:lstStyle/>
          <a:p>
            <a:endParaRPr lang="en-CN"/>
          </a:p>
        </p:txBody>
      </p:sp>
      <p:sp>
        <p:nvSpPr>
          <p:cNvPr id="18" name="Shape 15"/>
          <p:cNvSpPr/>
          <p:nvPr/>
        </p:nvSpPr>
        <p:spPr>
          <a:xfrm>
            <a:off x="457200" y="2148840"/>
            <a:ext cx="64008" cy="1024128"/>
          </a:xfrm>
          <a:prstGeom prst="rect">
            <a:avLst/>
          </a:prstGeom>
          <a:solidFill>
            <a:srgbClr val="1F6FB2"/>
          </a:solidFill>
          <a:ln w="9525">
            <a:solidFill>
              <a:srgbClr val="1F6FB2"/>
            </a:solidFill>
            <a:prstDash val="solid"/>
          </a:ln>
        </p:spPr>
        <p:txBody>
          <a:bodyPr/>
          <a:lstStyle/>
          <a:p>
            <a:endParaRPr lang="en-CN"/>
          </a:p>
        </p:txBody>
      </p:sp>
      <p:sp>
        <p:nvSpPr>
          <p:cNvPr id="19" name="Text 16"/>
          <p:cNvSpPr/>
          <p:nvPr/>
        </p:nvSpPr>
        <p:spPr>
          <a:xfrm>
            <a:off x="685800" y="2240280"/>
            <a:ext cx="3566160" cy="274320"/>
          </a:xfrm>
          <a:prstGeom prst="rect">
            <a:avLst/>
          </a:prstGeom>
          <a:noFill/>
          <a:ln/>
        </p:spPr>
        <p:txBody>
          <a:bodyPr wrap="square" lIns="0" tIns="0" rIns="0" bIns="0" rtlCol="0" anchor="t">
            <a:normAutofit/>
          </a:bodyPr>
          <a:lstStyle/>
          <a:p>
            <a:pPr marL="0" indent="0">
              <a:buNone/>
            </a:pPr>
            <a:r>
              <a:rPr lang="en-US" sz="1400" b="1" dirty="0">
                <a:solidFill>
                  <a:srgbClr val="1F6FB2"/>
                </a:solidFill>
                <a:latin typeface="Microsoft YaHei" pitchFamily="34" charset="0"/>
                <a:ea typeface="Microsoft YaHei" pitchFamily="34" charset="-122"/>
                <a:cs typeface="Microsoft YaHei" pitchFamily="34" charset="-120"/>
              </a:rPr>
              <a:t>Rebuild</a:t>
            </a:r>
            <a:endParaRPr lang="en-US" sz="1400" dirty="0"/>
          </a:p>
        </p:txBody>
      </p:sp>
      <p:sp>
        <p:nvSpPr>
          <p:cNvPr id="20" name="Text 17"/>
          <p:cNvSpPr/>
          <p:nvPr/>
        </p:nvSpPr>
        <p:spPr>
          <a:xfrm>
            <a:off x="685800" y="2532888"/>
            <a:ext cx="3566160" cy="594360"/>
          </a:xfrm>
          <a:prstGeom prst="rect">
            <a:avLst/>
          </a:prstGeom>
          <a:noFill/>
          <a:ln/>
        </p:spPr>
        <p:txBody>
          <a:bodyPr wrap="square" lIns="0" tIns="0" rIns="0" bIns="0" rtlCol="0" anchor="t">
            <a:normAutofit fontScale="70105"/>
          </a:bodyPr>
          <a:lstStyle/>
          <a:p>
            <a:pPr marL="0" indent="0">
              <a:buNone/>
            </a:pPr>
            <a:r>
              <a:rPr lang="en-US" sz="1150" dirty="0">
                <a:solidFill>
                  <a:srgbClr val="1F2933"/>
                </a:solidFill>
                <a:latin typeface="Microsoft YaHei" pitchFamily="34" charset="0"/>
                <a:ea typeface="Microsoft YaHei" pitchFamily="34" charset="-122"/>
                <a:cs typeface="Microsoft YaHei" pitchFamily="34" charset="-120"/>
              </a:rPr>
              <a:t>Converted into a network that runs and trains in PyTorch; outputs match on 144 photos, coordinate difference &lt; 0.001 px</a:t>
            </a:r>
            <a:endParaRPr lang="en-US" sz="1150" dirty="0"/>
          </a:p>
        </p:txBody>
      </p:sp>
      <p:sp>
        <p:nvSpPr>
          <p:cNvPr id="21" name="Shape 18"/>
          <p:cNvSpPr/>
          <p:nvPr/>
        </p:nvSpPr>
        <p:spPr>
          <a:xfrm>
            <a:off x="457200" y="3337560"/>
            <a:ext cx="3931920" cy="1024128"/>
          </a:xfrm>
          <a:prstGeom prst="rect">
            <a:avLst/>
          </a:prstGeom>
          <a:solidFill>
            <a:srgbClr val="FFFFFF"/>
          </a:solidFill>
          <a:ln w="9525">
            <a:solidFill>
              <a:srgbClr val="E3DCCB"/>
            </a:solidFill>
            <a:prstDash val="solid"/>
          </a:ln>
        </p:spPr>
        <p:txBody>
          <a:bodyPr/>
          <a:lstStyle/>
          <a:p>
            <a:endParaRPr lang="en-CN"/>
          </a:p>
        </p:txBody>
      </p:sp>
      <p:sp>
        <p:nvSpPr>
          <p:cNvPr id="22" name="Shape 19"/>
          <p:cNvSpPr/>
          <p:nvPr/>
        </p:nvSpPr>
        <p:spPr>
          <a:xfrm>
            <a:off x="457200" y="3337560"/>
            <a:ext cx="64008" cy="1024128"/>
          </a:xfrm>
          <a:prstGeom prst="rect">
            <a:avLst/>
          </a:prstGeom>
          <a:solidFill>
            <a:srgbClr val="B88A00"/>
          </a:solidFill>
          <a:ln w="9525">
            <a:solidFill>
              <a:srgbClr val="B88A00"/>
            </a:solidFill>
            <a:prstDash val="solid"/>
          </a:ln>
        </p:spPr>
        <p:txBody>
          <a:bodyPr/>
          <a:lstStyle/>
          <a:p>
            <a:endParaRPr lang="en-CN"/>
          </a:p>
        </p:txBody>
      </p:sp>
      <p:sp>
        <p:nvSpPr>
          <p:cNvPr id="23" name="Text 20"/>
          <p:cNvSpPr/>
          <p:nvPr/>
        </p:nvSpPr>
        <p:spPr>
          <a:xfrm>
            <a:off x="685800" y="3429000"/>
            <a:ext cx="3566160" cy="274320"/>
          </a:xfrm>
          <a:prstGeom prst="rect">
            <a:avLst/>
          </a:prstGeom>
          <a:noFill/>
          <a:ln/>
        </p:spPr>
        <p:txBody>
          <a:bodyPr wrap="square" lIns="0" tIns="0" rIns="0" bIns="0" rtlCol="0" anchor="t">
            <a:normAutofit/>
          </a:bodyPr>
          <a:lstStyle/>
          <a:p>
            <a:pPr marL="0" indent="0">
              <a:buNone/>
            </a:pPr>
            <a:r>
              <a:rPr lang="en-US" sz="1400" b="1" dirty="0">
                <a:solidFill>
                  <a:srgbClr val="B88A00"/>
                </a:solidFill>
                <a:latin typeface="Microsoft YaHei" pitchFamily="34" charset="0"/>
                <a:ea typeface="Microsoft YaHei" pitchFamily="34" charset="-122"/>
                <a:cs typeface="Microsoft YaHei" pitchFamily="34" charset="-120"/>
              </a:rPr>
              <a:t>The Name</a:t>
            </a:r>
            <a:endParaRPr lang="en-US" sz="1400" dirty="0"/>
          </a:p>
        </p:txBody>
      </p:sp>
      <p:sp>
        <p:nvSpPr>
          <p:cNvPr id="24" name="Text 21"/>
          <p:cNvSpPr/>
          <p:nvPr/>
        </p:nvSpPr>
        <p:spPr>
          <a:xfrm>
            <a:off x="685800" y="3721608"/>
            <a:ext cx="3566160" cy="594360"/>
          </a:xfrm>
          <a:prstGeom prst="rect">
            <a:avLst/>
          </a:prstGeom>
          <a:noFill/>
          <a:ln/>
        </p:spPr>
        <p:txBody>
          <a:bodyPr wrap="square" lIns="0" tIns="0" rIns="0" bIns="0" rtlCol="0" anchor="t">
            <a:normAutofit fontScale="70105"/>
          </a:bodyPr>
          <a:lstStyle/>
          <a:p>
            <a:pPr marL="0" indent="0">
              <a:buNone/>
            </a:pPr>
            <a:r>
              <a:rPr lang="en-US" sz="1150" dirty="0">
                <a:solidFill>
                  <a:srgbClr val="1F2933"/>
                </a:solidFill>
                <a:latin typeface="Microsoft YaHei" pitchFamily="34" charset="0"/>
                <a:ea typeface="Microsoft YaHei" pitchFamily="34" charset="-122"/>
                <a:cs typeface="Microsoft YaHei" pitchFamily="34" charset="-120"/>
              </a:rPr>
              <a:t>NAS = Neural Architecture Search, a method developers use to design networks; I did not perform architecture search</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76591661"/>
              </p:ext>
            </p:extLst>
          </p:nvPr>
        </p:nvGraphicFramePr>
        <p:xfrm>
          <a:off x="4663440" y="960120"/>
          <a:ext cx="4023360" cy="2889504"/>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66928">
                <a:tc>
                  <a:txBody>
                    <a:bodyP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Comparison</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14213D"/>
                    </a:solidFill>
                  </a:tcPr>
                </a:tc>
                <a:tc>
                  <a:txBody>
                    <a:bodyP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Heatmap Model</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14213D"/>
                    </a:solidFill>
                  </a:tcPr>
                </a:tc>
                <a:tc>
                  <a:txBody>
                    <a:bodyPr/>
                    <a:lstStyle/>
                    <a:p>
                      <a:pPr marL="0" indent="0" algn="ctr">
                        <a:buNone/>
                      </a:pPr>
                      <a:r>
                        <a:rPr lang="en-US" sz="1100" b="1" dirty="0">
                          <a:solidFill>
                            <a:srgbClr val="FFFFFF"/>
                          </a:solidFill>
                          <a:latin typeface="Microsoft YaHei" pitchFamily="34" charset="0"/>
                          <a:ea typeface="Microsoft YaHei" pitchFamily="34" charset="-122"/>
                          <a:cs typeface="Microsoft YaHei" pitchFamily="34" charset="-120"/>
                        </a:rPr>
                        <a:t>YOLO-NAS</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lgn="ctr">
                        <a:buNone/>
                      </a:pPr>
                      <a:r>
                        <a:rPr lang="en-US" sz="1100" b="1" dirty="0">
                          <a:solidFill>
                            <a:srgbClr val="14213D"/>
                          </a:solidFill>
                          <a:latin typeface="Microsoft YaHei" pitchFamily="34" charset="0"/>
                          <a:ea typeface="Microsoft YaHei" pitchFamily="34" charset="-122"/>
                          <a:cs typeface="Microsoft YaHei" pitchFamily="34" charset="-120"/>
                        </a:rPr>
                        <a:t>Network</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YOLOX Nano + heatmap head</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YOLO-NAS-S detection network</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100" b="1" dirty="0">
                          <a:solidFill>
                            <a:srgbClr val="14213D"/>
                          </a:solidFill>
                          <a:latin typeface="Microsoft YaHei" pitchFamily="34" charset="0"/>
                          <a:ea typeface="Microsoft YaHei" pitchFamily="34" charset="-122"/>
                          <a:cs typeface="Microsoft YaHei" pitchFamily="34" charset="-120"/>
                        </a:rPr>
                        <a:t>Location representation</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Local peaks in the heatmap</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Center of the predicted box</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ctr">
                        <a:buNone/>
                      </a:pPr>
                      <a:r>
                        <a:rPr lang="en-US" sz="1100" b="1" dirty="0">
                          <a:solidFill>
                            <a:srgbClr val="14213D"/>
                          </a:solidFill>
                          <a:latin typeface="Microsoft YaHei" pitchFamily="34" charset="0"/>
                          <a:ea typeface="Microsoft YaHei" pitchFamily="34" charset="-122"/>
                          <a:cs typeface="Microsoft YaHei" pitchFamily="34" charset="-120"/>
                        </a:rPr>
                        <a:t>Parameters</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~0.83M</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Microsoft YaHei" pitchFamily="34" charset="0"/>
                          <a:ea typeface="Microsoft YaHei" pitchFamily="34" charset="-122"/>
                          <a:cs typeface="Microsoft YaHei" pitchFamily="34" charset="-120"/>
                        </a:rPr>
                        <a:t>~12.13M</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100" b="1" dirty="0">
                          <a:solidFill>
                            <a:srgbClr val="14213D"/>
                          </a:solidFill>
                          <a:latin typeface="Microsoft YaHei" pitchFamily="34" charset="0"/>
                          <a:ea typeface="Microsoft YaHei" pitchFamily="34" charset="-122"/>
                          <a:cs typeface="Microsoft YaHei" pitchFamily="34" charset="-120"/>
                        </a:rPr>
                        <a:t>Weight source</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err="1">
                          <a:solidFill>
                            <a:srgbClr val="1F2933"/>
                          </a:solidFill>
                          <a:latin typeface="Microsoft YaHei" pitchFamily="34" charset="0"/>
                          <a:ea typeface="Microsoft YaHei" pitchFamily="34" charset="-122"/>
                          <a:cs typeface="Microsoft YaHei" pitchFamily="34" charset="-120"/>
                        </a:rPr>
                        <a:t>Trained from scratch</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tc>
                  <a:txBody>
                    <a:bodyPr/>
                    <a:lstStyle/>
                    <a:p>
                      <a:pPr marL="0" indent="0" algn="ctr">
                        <a:buNone/>
                      </a:pPr>
                      <a:r>
                        <a:rPr lang="en-US" sz="1100" dirty="0" err="1">
                          <a:solidFill>
                            <a:srgbClr val="1F2933"/>
                          </a:solidFill>
                          <a:latin typeface="Microsoft YaHei" pitchFamily="34" charset="0"/>
                          <a:ea typeface="Microsoft YaHei" pitchFamily="34" charset="-122"/>
                          <a:cs typeface="Microsoft YaHei" pitchFamily="34" charset="-120"/>
                        </a:rPr>
                        <a:t>Fine-tuned from the official open-source model</a:t>
                      </a:r>
                      <a:endParaRPr lang="en-US" sz="1100" dirty="0">
                        <a:latin typeface="Microsoft YaHei" charset="0"/>
                        <a:ea typeface="Microsoft YaHei" charset="0"/>
                        <a:cs typeface="Microsoft YaHei" charset="0"/>
                      </a:endParaRPr>
                    </a:p>
                  </a:txBody>
                  <a:tcPr anchor="ctr">
                    <a:lnL w="9525" cap="flat" cmpd="sng" algn="ctr">
                      <a:solidFill>
                        <a:srgbClr val="E3DCCB"/>
                      </a:solidFill>
                      <a:prstDash val="solid"/>
                      <a:round/>
                      <a:headEnd type="none" w="med" len="med"/>
                      <a:tailEnd type="none" w="med" len="med"/>
                    </a:lnL>
                    <a:lnR w="9525" cap="flat" cmpd="sng" algn="ctr">
                      <a:solidFill>
                        <a:srgbClr val="E3DCCB"/>
                      </a:solidFill>
                      <a:prstDash val="solid"/>
                      <a:round/>
                      <a:headEnd type="none" w="med" len="med"/>
                      <a:tailEnd type="none" w="med" len="med"/>
                    </a:lnR>
                    <a:lnT w="9525" cap="flat" cmpd="sng" algn="ctr">
                      <a:solidFill>
                        <a:srgbClr val="E3DCCB"/>
                      </a:solidFill>
                      <a:prstDash val="solid"/>
                      <a:round/>
                      <a:headEnd type="none" w="med" len="med"/>
                      <a:tailEnd type="none" w="med" len="med"/>
                    </a:lnT>
                    <a:lnB w="9525" cap="flat" cmpd="sng" algn="ctr">
                      <a:solidFill>
                        <a:srgbClr val="E3DC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6" name="Text 22"/>
          <p:cNvSpPr/>
          <p:nvPr/>
        </p:nvSpPr>
        <p:spPr>
          <a:xfrm>
            <a:off x="4663440" y="3977640"/>
            <a:ext cx="4023360" cy="274320"/>
          </a:xfrm>
          <a:prstGeom prst="rect">
            <a:avLst/>
          </a:prstGeom>
          <a:noFill/>
          <a:ln/>
        </p:spPr>
        <p:txBody>
          <a:bodyPr wrap="square" lIns="0" tIns="0" rIns="0" bIns="0" rtlCol="0" anchor="t"/>
          <a:lstStyle/>
          <a:p>
            <a:pPr marL="0" indent="0">
              <a:buNone/>
            </a:pPr>
            <a:r>
              <a:rPr lang="en-US" sz="1000" dirty="0">
                <a:solidFill>
                  <a:srgbClr val="6B7280"/>
                </a:solidFill>
                <a:latin typeface="Microsoft YaHei" pitchFamily="34" charset="0"/>
                <a:ea typeface="Microsoft YaHei" pitchFamily="34" charset="-122"/>
                <a:cs typeface="Microsoft YaHei" pitchFamily="34" charset="-120"/>
              </a:rPr>
              <a:t>Parameter count reflects capacity, not capability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The Same 28 Photos: Each Has Its Strengths</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Shape 6"/>
          <p:cNvSpPr/>
          <p:nvPr/>
        </p:nvSpPr>
        <p:spPr>
          <a:xfrm>
            <a:off x="7845552"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12</a:t>
            </a:r>
            <a:endParaRPr lang="en-US" sz="900" dirty="0"/>
          </a:p>
        </p:txBody>
      </p:sp>
      <p:graphicFrame>
        <p:nvGraphicFramePr>
          <p:cNvPr id="13" name="Chart 0"/>
          <p:cNvGraphicFramePr/>
          <p:nvPr/>
        </p:nvGraphicFramePr>
        <p:xfrm>
          <a:off x="365760" y="914400"/>
          <a:ext cx="42976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0"/>
          <p:cNvSpPr/>
          <p:nvPr/>
        </p:nvSpPr>
        <p:spPr>
          <a:xfrm>
            <a:off x="457200" y="3749040"/>
            <a:ext cx="4206240" cy="274320"/>
          </a:xfrm>
          <a:prstGeom prst="rect">
            <a:avLst/>
          </a:prstGeom>
          <a:noFill/>
          <a:ln/>
        </p:spPr>
        <p:txBody>
          <a:bodyPr wrap="square" lIns="0" tIns="0" rIns="0" bIns="0" rtlCol="0" anchor="t">
            <a:normAutofit fontScale="66347"/>
          </a:bodyPr>
          <a:lstStyle/>
          <a:p>
            <a:pPr marL="0" indent="0">
              <a:buNone/>
            </a:pPr>
            <a:r>
              <a:rPr lang="en-US" sz="1200" b="1" dirty="0">
                <a:solidFill>
                  <a:srgbClr val="14213D"/>
                </a:solidFill>
                <a:latin typeface="Microsoft YaHei" pitchFamily="34" charset="0"/>
                <a:ea typeface="Microsoft YaHei" pitchFamily="34" charset="-122"/>
                <a:cs typeface="Microsoft YaHei" pitchFamily="34" charset="-120"/>
              </a:rPr>
              <a:t>Mean localization error: YOLO-NAS 2.15 px, heatmap approach 3.15 px</a:t>
            </a:r>
            <a:endParaRPr lang="en-US" sz="1200" dirty="0"/>
          </a:p>
        </p:txBody>
      </p:sp>
      <p:pic>
        <p:nvPicPr>
          <p:cNvPr id="15" name="Image 0" descr="/Users/xiaolu/source/ArcheryAssistant-Launcher-1.0.0-win64/课题报告/答辩PPT/assets/s078_nas.jpg"/>
          <p:cNvPicPr>
            <a:picLocks noChangeAspect="1"/>
          </p:cNvPicPr>
          <p:nvPr/>
        </p:nvPicPr>
        <p:blipFill>
          <a:blip r:embed="rId4"/>
          <a:stretch>
            <a:fillRect/>
          </a:stretch>
        </p:blipFill>
        <p:spPr>
          <a:xfrm>
            <a:off x="4892040" y="960120"/>
            <a:ext cx="1828800" cy="1371600"/>
          </a:xfrm>
          <a:prstGeom prst="rect">
            <a:avLst/>
          </a:prstGeom>
        </p:spPr>
      </p:pic>
      <p:pic>
        <p:nvPicPr>
          <p:cNvPr id="16" name="Image 1" descr="/Users/xiaolu/source/ArcheryAssistant-Launcher-1.0.0-win64/课题报告/答辩PPT/assets/s078_heat.jpg"/>
          <p:cNvPicPr>
            <a:picLocks noChangeAspect="1"/>
          </p:cNvPicPr>
          <p:nvPr/>
        </p:nvPicPr>
        <p:blipFill>
          <a:blip r:embed="rId5"/>
          <a:stretch>
            <a:fillRect/>
          </a:stretch>
        </p:blipFill>
        <p:spPr>
          <a:xfrm>
            <a:off x="6858000" y="960120"/>
            <a:ext cx="1828800" cy="1371600"/>
          </a:xfrm>
          <a:prstGeom prst="rect">
            <a:avLst/>
          </a:prstGeom>
        </p:spPr>
      </p:pic>
      <p:sp>
        <p:nvSpPr>
          <p:cNvPr id="17" name="Text 11"/>
          <p:cNvSpPr/>
          <p:nvPr/>
        </p:nvSpPr>
        <p:spPr>
          <a:xfrm>
            <a:off x="4892040" y="2377440"/>
            <a:ext cx="1828800" cy="256032"/>
          </a:xfrm>
          <a:prstGeom prst="rect">
            <a:avLst/>
          </a:prstGeom>
          <a:noFill/>
          <a:ln/>
        </p:spPr>
        <p:txBody>
          <a:bodyPr wrap="square" lIns="0" tIns="0" rIns="0" bIns="0" rtlCol="0" anchor="t"/>
          <a:lstStyle/>
          <a:p>
            <a:pPr marL="0" indent="0" algn="ctr">
              <a:buNone/>
            </a:pPr>
            <a:r>
              <a:rPr lang="en-US" sz="1100" b="1" dirty="0">
                <a:solidFill>
                  <a:srgbClr val="D62839"/>
                </a:solidFill>
                <a:latin typeface="Microsoft YaHei" pitchFamily="34" charset="0"/>
                <a:ea typeface="Microsoft YaHei" pitchFamily="34" charset="-122"/>
                <a:cs typeface="Microsoft YaHei" pitchFamily="34" charset="-120"/>
              </a:rPr>
              <a:t>YOLO-NAS: 2/8</a:t>
            </a:r>
            <a:endParaRPr lang="en-US" sz="1100" dirty="0"/>
          </a:p>
        </p:txBody>
      </p:sp>
      <p:sp>
        <p:nvSpPr>
          <p:cNvPr id="18" name="Text 12"/>
          <p:cNvSpPr/>
          <p:nvPr/>
        </p:nvSpPr>
        <p:spPr>
          <a:xfrm>
            <a:off x="6858000" y="2377440"/>
            <a:ext cx="1828800" cy="256032"/>
          </a:xfrm>
          <a:prstGeom prst="rect">
            <a:avLst/>
          </a:prstGeom>
          <a:noFill/>
          <a:ln/>
        </p:spPr>
        <p:txBody>
          <a:bodyPr wrap="square" lIns="0" tIns="0" rIns="0" bIns="0" rtlCol="0" anchor="t">
            <a:normAutofit fontScale="59364"/>
          </a:bodyPr>
          <a:lstStyle/>
          <a:p>
            <a:pPr marL="0" indent="0" algn="ctr">
              <a:buNone/>
            </a:pPr>
            <a:r>
              <a:rPr lang="en-US" sz="1100" b="1" dirty="0">
                <a:solidFill>
                  <a:srgbClr val="2E8B57"/>
                </a:solidFill>
                <a:latin typeface="Microsoft YaHei" pitchFamily="34" charset="0"/>
                <a:ea typeface="Microsoft YaHei" pitchFamily="34" charset="-122"/>
                <a:cs typeface="Microsoft YaHei" pitchFamily="34" charset="-120"/>
              </a:rPr>
              <a:t>Heatmap + verifier: 8/8</a:t>
            </a:r>
            <a:endParaRPr lang="en-US" sz="1100" dirty="0"/>
          </a:p>
        </p:txBody>
      </p:sp>
      <p:sp>
        <p:nvSpPr>
          <p:cNvPr id="19" name="Text 13"/>
          <p:cNvSpPr/>
          <p:nvPr/>
        </p:nvSpPr>
        <p:spPr>
          <a:xfrm>
            <a:off x="4892040" y="2697480"/>
            <a:ext cx="3794760" cy="274320"/>
          </a:xfrm>
          <a:prstGeom prst="rect">
            <a:avLst/>
          </a:prstGeom>
          <a:noFill/>
          <a:ln/>
        </p:spPr>
        <p:txBody>
          <a:bodyPr wrap="square" lIns="0" tIns="0" rIns="0" bIns="0" rtlCol="0" anchor="t">
            <a:normAutofit fontScale="58671"/>
          </a:bodyPr>
          <a:lstStyle/>
          <a:p>
            <a:pPr marL="0" indent="0">
              <a:buNone/>
            </a:pPr>
            <a:r>
              <a:rPr lang="en-US" sz="1200" dirty="0">
                <a:solidFill>
                  <a:srgbClr val="1F2933"/>
                </a:solidFill>
                <a:latin typeface="Microsoft YaHei" pitchFamily="34" charset="0"/>
                <a:ea typeface="Microsoft YaHei" pitchFamily="34" charset="-122"/>
                <a:cs typeface="Microsoft YaHei" pitchFamily="34" charset="-120"/>
              </a:rPr>
              <a:t>Counter-example: with dense arrows, YOLO-NAS misses many</a:t>
            </a:r>
            <a:endParaRPr lang="en-US" sz="1200" dirty="0"/>
          </a:p>
        </p:txBody>
      </p:sp>
      <p:sp>
        <p:nvSpPr>
          <p:cNvPr id="20" name="Shape 14"/>
          <p:cNvSpPr/>
          <p:nvPr/>
        </p:nvSpPr>
        <p:spPr>
          <a:xfrm>
            <a:off x="4892040" y="3108960"/>
            <a:ext cx="3794760" cy="1097280"/>
          </a:xfrm>
          <a:prstGeom prst="rect">
            <a:avLst/>
          </a:prstGeom>
          <a:solidFill>
            <a:srgbClr val="FFF3C4"/>
          </a:solidFill>
          <a:ln w="9525">
            <a:solidFill>
              <a:srgbClr val="EBD27A"/>
            </a:solidFill>
            <a:prstDash val="solid"/>
          </a:ln>
        </p:spPr>
        <p:txBody>
          <a:bodyPr/>
          <a:lstStyle/>
          <a:p>
            <a:endParaRPr lang="en-CN"/>
          </a:p>
        </p:txBody>
      </p:sp>
      <p:sp>
        <p:nvSpPr>
          <p:cNvPr id="21" name="Text 15"/>
          <p:cNvSpPr/>
          <p:nvPr/>
        </p:nvSpPr>
        <p:spPr>
          <a:xfrm>
            <a:off x="5029200" y="3154680"/>
            <a:ext cx="3566160" cy="1005840"/>
          </a:xfrm>
          <a:prstGeom prst="rect">
            <a:avLst/>
          </a:prstGeom>
          <a:noFill/>
          <a:ln/>
        </p:spPr>
        <p:txBody>
          <a:bodyPr wrap="square" lIns="0" tIns="0" rIns="0" bIns="0" rtlCol="0" anchor="ctr">
            <a:normAutofit fontScale="53022"/>
          </a:bodyPr>
          <a:lstStyle/>
          <a:p>
            <a:pPr marL="0" indent="0">
              <a:spcAft>
                <a:spcPts val="200"/>
              </a:spcAft>
              <a:buNone/>
            </a:pPr>
            <a:r>
              <a:rPr lang="en-US" sz="1100" b="1" dirty="0">
                <a:solidFill>
                  <a:srgbClr val="14213D"/>
                </a:solidFill>
                <a:latin typeface="Microsoft YaHei" pitchFamily="34" charset="0"/>
                <a:ea typeface="Microsoft YaHei" pitchFamily="34" charset="-122"/>
                <a:cs typeface="Microsoft YaHei" pitchFamily="34" charset="-120"/>
              </a:rPr>
              <a:t>Interpret with caution</a:t>
            </a:r>
            <a:endParaRPr lang="en-US" sz="1100" dirty="0"/>
          </a:p>
          <a:p>
            <a:pPr marL="342900" indent="-342900">
              <a:spcAft>
                <a:spcPts val="200"/>
              </a:spcAft>
              <a:buSzPct val="100000"/>
              <a:buChar char="•"/>
            </a:pPr>
            <a:r>
              <a:rPr lang="en-US" sz="1100" dirty="0">
                <a:solidFill>
                  <a:srgbClr val="1F2933"/>
                </a:solidFill>
                <a:latin typeface="Microsoft YaHei" pitchFamily="34" charset="0"/>
                <a:ea typeface="Microsoft YaHei" pitchFamily="34" charset="-122"/>
                <a:cs typeface="Microsoft YaHei" pitchFamily="34" charset="-120"/>
              </a:rPr>
              <a:t>Of 30 "false detections" re-checked, 22 were actually unlabeled true arrows</a:t>
            </a:r>
            <a:endParaRPr lang="en-US" sz="1100" dirty="0"/>
          </a:p>
          <a:p>
            <a:pPr marL="342900" indent="-342900">
              <a:spcAft>
                <a:spcPts val="200"/>
              </a:spcAft>
              <a:buSzPct val="100000"/>
              <a:buChar char="•"/>
            </a:pPr>
            <a:r>
              <a:rPr lang="en-US" sz="1100" dirty="0">
                <a:solidFill>
                  <a:srgbClr val="1F2933"/>
                </a:solidFill>
                <a:latin typeface="Microsoft YaHei" pitchFamily="34" charset="0"/>
                <a:ea typeface="Microsoft YaHei" pitchFamily="34" charset="-122"/>
                <a:cs typeface="Microsoft YaHei" pitchFamily="34" charset="-120"/>
              </a:rPr>
              <a:t>Architecture, training data, and post-processing all differ; the gap cannot be attributed to architecture alone</a:t>
            </a:r>
            <a:endParaRPr lang="en-US" sz="1100" dirty="0"/>
          </a:p>
        </p:txBody>
      </p:sp>
      <p:sp>
        <p:nvSpPr>
          <p:cNvPr id="22" name="Text 16"/>
          <p:cNvSpPr/>
          <p:nvPr/>
        </p:nvSpPr>
        <p:spPr>
          <a:xfrm>
            <a:off x="457200" y="4343400"/>
            <a:ext cx="8229600" cy="256032"/>
          </a:xfrm>
          <a:prstGeom prst="rect">
            <a:avLst/>
          </a:prstGeom>
          <a:noFill/>
          <a:ln/>
        </p:spPr>
        <p:txBody>
          <a:bodyPr wrap="square" lIns="0" tIns="0" rIns="0" bIns="0" rtlCol="0" anchor="t"/>
          <a:lstStyle/>
          <a:p>
            <a:pPr marL="0" indent="0">
              <a:buNone/>
            </a:pPr>
            <a:r>
              <a:rPr lang="en-US" sz="1000" dirty="0">
                <a:solidFill>
                  <a:srgbClr val="6B7280"/>
                </a:solidFill>
                <a:latin typeface="Microsoft YaHei" pitchFamily="34" charset="0"/>
                <a:ea typeface="Microsoft YaHei" pitchFamily="34" charset="-122"/>
                <a:cs typeface="Microsoft YaHei" pitchFamily="34" charset="-120"/>
              </a:rPr>
              <a:t>28 development photos · 189 reference points · 8-pixel tolerance at 640 scale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normAutofit fontScale="54795"/>
          </a:bodyP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Fine-Tuning YOLO-NAS: Experiencing the Power of Learning</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Shape 6"/>
          <p:cNvSpPr/>
          <p:nvPr/>
        </p:nvSpPr>
        <p:spPr>
          <a:xfrm>
            <a:off x="7845552"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9" name="Text 7"/>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Baseline</a:t>
            </a:r>
            <a:endParaRPr lang="en-US" sz="1000" dirty="0"/>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13</a:t>
            </a:r>
            <a:endParaRPr lang="en-US" sz="900" dirty="0"/>
          </a:p>
        </p:txBody>
      </p:sp>
      <p:sp>
        <p:nvSpPr>
          <p:cNvPr id="13" name="Shape 10"/>
          <p:cNvSpPr/>
          <p:nvPr/>
        </p:nvSpPr>
        <p:spPr>
          <a:xfrm>
            <a:off x="457200" y="960120"/>
            <a:ext cx="2651760" cy="2560320"/>
          </a:xfrm>
          <a:prstGeom prst="rect">
            <a:avLst/>
          </a:prstGeom>
          <a:solidFill>
            <a:srgbClr val="FFFFFF"/>
          </a:solidFill>
          <a:ln w="9525">
            <a:solidFill>
              <a:srgbClr val="E3DCCB"/>
            </a:solidFill>
            <a:prstDash val="solid"/>
          </a:ln>
        </p:spPr>
        <p:txBody>
          <a:bodyPr/>
          <a:lstStyle/>
          <a:p>
            <a:endParaRPr lang="en-CN"/>
          </a:p>
        </p:txBody>
      </p:sp>
      <p:sp>
        <p:nvSpPr>
          <p:cNvPr id="14" name="Shape 11"/>
          <p:cNvSpPr/>
          <p:nvPr/>
        </p:nvSpPr>
        <p:spPr>
          <a:xfrm>
            <a:off x="457200" y="960120"/>
            <a:ext cx="2651760" cy="457200"/>
          </a:xfrm>
          <a:prstGeom prst="rect">
            <a:avLst/>
          </a:prstGeom>
          <a:solidFill>
            <a:srgbClr val="6B7280"/>
          </a:solidFill>
          <a:ln w="9525">
            <a:solidFill>
              <a:srgbClr val="6B7280"/>
            </a:solidFill>
            <a:prstDash val="solid"/>
          </a:ln>
        </p:spPr>
        <p:txBody>
          <a:bodyPr/>
          <a:lstStyle/>
          <a:p>
            <a:endParaRPr lang="en-CN"/>
          </a:p>
        </p:txBody>
      </p:sp>
      <p:sp>
        <p:nvSpPr>
          <p:cNvPr id="15" name="Text 12"/>
          <p:cNvSpPr/>
          <p:nvPr/>
        </p:nvSpPr>
        <p:spPr>
          <a:xfrm>
            <a:off x="457200" y="96012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Original</a:t>
            </a:r>
            <a:endParaRPr lang="en-US" sz="1400" dirty="0"/>
          </a:p>
        </p:txBody>
      </p:sp>
      <p:sp>
        <p:nvSpPr>
          <p:cNvPr id="16" name="Text 13"/>
          <p:cNvSpPr/>
          <p:nvPr/>
        </p:nvSpPr>
        <p:spPr>
          <a:xfrm>
            <a:off x="594360" y="1508760"/>
            <a:ext cx="2377440" cy="594360"/>
          </a:xfrm>
          <a:prstGeom prst="rect">
            <a:avLst/>
          </a:prstGeom>
          <a:noFill/>
          <a:ln/>
        </p:spPr>
        <p:txBody>
          <a:bodyPr wrap="square" lIns="0" tIns="0" rIns="0" bIns="0" rtlCol="0" anchor="ct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a:t>
            </a:r>
            <a:endParaRPr lang="en-US" sz="1050" dirty="0"/>
          </a:p>
        </p:txBody>
      </p:sp>
      <p:sp>
        <p:nvSpPr>
          <p:cNvPr id="17" name="Text 14"/>
          <p:cNvSpPr/>
          <p:nvPr/>
        </p:nvSpPr>
        <p:spPr>
          <a:xfrm>
            <a:off x="457200" y="2194560"/>
            <a:ext cx="1325880" cy="365760"/>
          </a:xfrm>
          <a:prstGeom prst="rect">
            <a:avLst/>
          </a:prstGeom>
          <a:noFill/>
          <a:ln/>
        </p:spPr>
        <p:txBody>
          <a:bodyPr wrap="square" lIns="0" tIns="0" rIns="0" bIns="0" rtlCol="0" anchor="ct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Missed / 189</a:t>
            </a:r>
            <a:endParaRPr lang="en-US" sz="1050" dirty="0"/>
          </a:p>
        </p:txBody>
      </p:sp>
      <p:sp>
        <p:nvSpPr>
          <p:cNvPr id="18" name="Text 15"/>
          <p:cNvSpPr/>
          <p:nvPr/>
        </p:nvSpPr>
        <p:spPr>
          <a:xfrm>
            <a:off x="1783080" y="2194560"/>
            <a:ext cx="1325880" cy="365760"/>
          </a:xfrm>
          <a:prstGeom prst="rect">
            <a:avLst/>
          </a:prstGeom>
          <a:noFill/>
          <a:ln/>
        </p:spPr>
        <p:txBody>
          <a:bodyPr wrap="square" lIns="0" tIns="0" rIns="0" bIns="0" rtlCol="0" anchor="ctr">
            <a:normAutofit fontScale="59750"/>
          </a:bodyP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Unmatched candidates</a:t>
            </a:r>
            <a:endParaRPr lang="en-US" sz="1050" dirty="0"/>
          </a:p>
        </p:txBody>
      </p:sp>
      <p:sp>
        <p:nvSpPr>
          <p:cNvPr id="19" name="Text 16"/>
          <p:cNvSpPr/>
          <p:nvPr/>
        </p:nvSpPr>
        <p:spPr>
          <a:xfrm>
            <a:off x="457200" y="2651760"/>
            <a:ext cx="1325880" cy="640080"/>
          </a:xfrm>
          <a:prstGeom prst="rect">
            <a:avLst/>
          </a:prstGeom>
          <a:noFill/>
          <a:ln/>
        </p:spPr>
        <p:txBody>
          <a:bodyPr wrap="square" lIns="0" tIns="0" rIns="0" bIns="0" rtlCol="0" anchor="ctr"/>
          <a:lstStyle/>
          <a:p>
            <a:pPr marL="0" indent="0" algn="ctr">
              <a:buNone/>
            </a:pPr>
            <a:r>
              <a:rPr lang="en-US" sz="3000" b="1" dirty="0">
                <a:solidFill>
                  <a:srgbClr val="1F2933"/>
                </a:solidFill>
                <a:latin typeface="Microsoft YaHei" pitchFamily="34" charset="0"/>
                <a:ea typeface="Microsoft YaHei" pitchFamily="34" charset="-122"/>
                <a:cs typeface="Microsoft YaHei" pitchFamily="34" charset="-120"/>
              </a:rPr>
              <a:t>17</a:t>
            </a:r>
            <a:endParaRPr lang="en-US" sz="3000" dirty="0"/>
          </a:p>
        </p:txBody>
      </p:sp>
      <p:sp>
        <p:nvSpPr>
          <p:cNvPr id="20" name="Text 17"/>
          <p:cNvSpPr/>
          <p:nvPr/>
        </p:nvSpPr>
        <p:spPr>
          <a:xfrm>
            <a:off x="1783080" y="2651760"/>
            <a:ext cx="1325880" cy="640080"/>
          </a:xfrm>
          <a:prstGeom prst="rect">
            <a:avLst/>
          </a:prstGeom>
          <a:noFill/>
          <a:ln/>
        </p:spPr>
        <p:txBody>
          <a:bodyPr wrap="square" lIns="0" tIns="0" rIns="0" bIns="0" rtlCol="0" anchor="ctr"/>
          <a:lstStyle/>
          <a:p>
            <a:pPr marL="0" indent="0" algn="ctr">
              <a:buNone/>
            </a:pPr>
            <a:r>
              <a:rPr lang="en-US" sz="3000" b="1" dirty="0">
                <a:solidFill>
                  <a:srgbClr val="1F2933"/>
                </a:solidFill>
                <a:latin typeface="Microsoft YaHei" pitchFamily="34" charset="0"/>
                <a:ea typeface="Microsoft YaHei" pitchFamily="34" charset="-122"/>
                <a:cs typeface="Microsoft YaHei" pitchFamily="34" charset="-120"/>
              </a:rPr>
              <a:t>87</a:t>
            </a:r>
            <a:endParaRPr lang="en-US" sz="3000" dirty="0"/>
          </a:p>
        </p:txBody>
      </p:sp>
      <p:sp>
        <p:nvSpPr>
          <p:cNvPr id="21" name="Shape 18"/>
          <p:cNvSpPr/>
          <p:nvPr/>
        </p:nvSpPr>
        <p:spPr>
          <a:xfrm>
            <a:off x="3246120" y="960120"/>
            <a:ext cx="2651760" cy="2560320"/>
          </a:xfrm>
          <a:prstGeom prst="rect">
            <a:avLst/>
          </a:prstGeom>
          <a:solidFill>
            <a:srgbClr val="FFFFFF"/>
          </a:solidFill>
          <a:ln w="9525">
            <a:solidFill>
              <a:srgbClr val="E3DCCB"/>
            </a:solidFill>
            <a:prstDash val="solid"/>
          </a:ln>
        </p:spPr>
        <p:txBody>
          <a:bodyPr/>
          <a:lstStyle/>
          <a:p>
            <a:endParaRPr lang="en-CN"/>
          </a:p>
        </p:txBody>
      </p:sp>
      <p:sp>
        <p:nvSpPr>
          <p:cNvPr id="22" name="Shape 19"/>
          <p:cNvSpPr/>
          <p:nvPr/>
        </p:nvSpPr>
        <p:spPr>
          <a:xfrm>
            <a:off x="3246120" y="960120"/>
            <a:ext cx="2651760" cy="457200"/>
          </a:xfrm>
          <a:prstGeom prst="rect">
            <a:avLst/>
          </a:prstGeom>
          <a:solidFill>
            <a:srgbClr val="1F6FB2"/>
          </a:solidFill>
          <a:ln w="9525">
            <a:solidFill>
              <a:srgbClr val="1F6FB2"/>
            </a:solidFill>
            <a:prstDash val="solid"/>
          </a:ln>
        </p:spPr>
        <p:txBody>
          <a:bodyPr/>
          <a:lstStyle/>
          <a:p>
            <a:endParaRPr lang="en-CN"/>
          </a:p>
        </p:txBody>
      </p:sp>
      <p:sp>
        <p:nvSpPr>
          <p:cNvPr id="23" name="Text 20"/>
          <p:cNvSpPr/>
          <p:nvPr/>
        </p:nvSpPr>
        <p:spPr>
          <a:xfrm>
            <a:off x="3246120" y="960120"/>
            <a:ext cx="26517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First fine-tuning round</a:t>
            </a:r>
            <a:endParaRPr lang="en-US" sz="1400" dirty="0"/>
          </a:p>
        </p:txBody>
      </p:sp>
      <p:sp>
        <p:nvSpPr>
          <p:cNvPr id="24" name="Text 21"/>
          <p:cNvSpPr/>
          <p:nvPr/>
        </p:nvSpPr>
        <p:spPr>
          <a:xfrm>
            <a:off x="3383280" y="1508760"/>
            <a:ext cx="2377440" cy="594360"/>
          </a:xfrm>
          <a:prstGeom prst="rect">
            <a:avLst/>
          </a:prstGeom>
          <a:noFill/>
          <a:ln/>
        </p:spPr>
        <p:txBody>
          <a:bodyPr wrap="square" lIns="0" tIns="0" rIns="0" bIns="0" rtlCol="0" anchor="ctr">
            <a:normAutofit fontScale="59750"/>
          </a:bodyP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9 photos · 11 human-confirmed points</a:t>
            </a:r>
            <a:endParaRPr lang="en-US" sz="1050" dirty="0"/>
          </a:p>
        </p:txBody>
      </p:sp>
      <p:sp>
        <p:nvSpPr>
          <p:cNvPr id="25" name="Text 22"/>
          <p:cNvSpPr/>
          <p:nvPr/>
        </p:nvSpPr>
        <p:spPr>
          <a:xfrm>
            <a:off x="3246120" y="2194560"/>
            <a:ext cx="1325880" cy="365760"/>
          </a:xfrm>
          <a:prstGeom prst="rect">
            <a:avLst/>
          </a:prstGeom>
          <a:noFill/>
          <a:ln/>
        </p:spPr>
        <p:txBody>
          <a:bodyPr wrap="square" lIns="0" tIns="0" rIns="0" bIns="0" rtlCol="0" anchor="ct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Missed / 189</a:t>
            </a:r>
            <a:endParaRPr lang="en-US" sz="1050" dirty="0"/>
          </a:p>
        </p:txBody>
      </p:sp>
      <p:sp>
        <p:nvSpPr>
          <p:cNvPr id="26" name="Text 23"/>
          <p:cNvSpPr/>
          <p:nvPr/>
        </p:nvSpPr>
        <p:spPr>
          <a:xfrm>
            <a:off x="4572000" y="2194560"/>
            <a:ext cx="1325880" cy="365760"/>
          </a:xfrm>
          <a:prstGeom prst="rect">
            <a:avLst/>
          </a:prstGeom>
          <a:noFill/>
          <a:ln/>
        </p:spPr>
        <p:txBody>
          <a:bodyPr wrap="square" lIns="0" tIns="0" rIns="0" bIns="0" rtlCol="0" anchor="ctr">
            <a:normAutofit fontScale="59750"/>
          </a:bodyP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Unmatched candidates</a:t>
            </a:r>
            <a:endParaRPr lang="en-US" sz="1050" dirty="0"/>
          </a:p>
        </p:txBody>
      </p:sp>
      <p:sp>
        <p:nvSpPr>
          <p:cNvPr id="27" name="Text 24"/>
          <p:cNvSpPr/>
          <p:nvPr/>
        </p:nvSpPr>
        <p:spPr>
          <a:xfrm>
            <a:off x="3246120" y="2651760"/>
            <a:ext cx="1325880" cy="640080"/>
          </a:xfrm>
          <a:prstGeom prst="rect">
            <a:avLst/>
          </a:prstGeom>
          <a:noFill/>
          <a:ln/>
        </p:spPr>
        <p:txBody>
          <a:bodyPr wrap="square" lIns="0" tIns="0" rIns="0" bIns="0" rtlCol="0" anchor="ctr"/>
          <a:lstStyle/>
          <a:p>
            <a:pPr marL="0" indent="0" algn="ctr">
              <a:buNone/>
            </a:pPr>
            <a:r>
              <a:rPr lang="en-US" sz="3000" b="1" dirty="0">
                <a:solidFill>
                  <a:srgbClr val="1F2933"/>
                </a:solidFill>
                <a:latin typeface="Microsoft YaHei" pitchFamily="34" charset="0"/>
                <a:ea typeface="Microsoft YaHei" pitchFamily="34" charset="-122"/>
                <a:cs typeface="Microsoft YaHei" pitchFamily="34" charset="-120"/>
              </a:rPr>
              <a:t>17</a:t>
            </a:r>
            <a:endParaRPr lang="en-US" sz="3000" dirty="0"/>
          </a:p>
        </p:txBody>
      </p:sp>
      <p:sp>
        <p:nvSpPr>
          <p:cNvPr id="28" name="Text 25"/>
          <p:cNvSpPr/>
          <p:nvPr/>
        </p:nvSpPr>
        <p:spPr>
          <a:xfrm>
            <a:off x="4572000" y="2651760"/>
            <a:ext cx="1325880" cy="640080"/>
          </a:xfrm>
          <a:prstGeom prst="rect">
            <a:avLst/>
          </a:prstGeom>
          <a:noFill/>
          <a:ln/>
        </p:spPr>
        <p:txBody>
          <a:bodyPr wrap="square" lIns="0" tIns="0" rIns="0" bIns="0" rtlCol="0" anchor="ctr"/>
          <a:lstStyle/>
          <a:p>
            <a:pPr marL="0" indent="0" algn="ctr">
              <a:buNone/>
            </a:pPr>
            <a:r>
              <a:rPr lang="en-US" sz="3000" b="1" dirty="0">
                <a:solidFill>
                  <a:srgbClr val="1F2933"/>
                </a:solidFill>
                <a:latin typeface="Microsoft YaHei" pitchFamily="34" charset="0"/>
                <a:ea typeface="Microsoft YaHei" pitchFamily="34" charset="-122"/>
                <a:cs typeface="Microsoft YaHei" pitchFamily="34" charset="-120"/>
              </a:rPr>
              <a:t>88</a:t>
            </a:r>
            <a:endParaRPr lang="en-US" sz="3000" dirty="0"/>
          </a:p>
        </p:txBody>
      </p:sp>
      <p:sp>
        <p:nvSpPr>
          <p:cNvPr id="29" name="Shape 26"/>
          <p:cNvSpPr/>
          <p:nvPr/>
        </p:nvSpPr>
        <p:spPr>
          <a:xfrm>
            <a:off x="6035040" y="960120"/>
            <a:ext cx="2651760" cy="2560320"/>
          </a:xfrm>
          <a:prstGeom prst="rect">
            <a:avLst/>
          </a:prstGeom>
          <a:solidFill>
            <a:srgbClr val="FFFFFF"/>
          </a:solidFill>
          <a:ln w="9525">
            <a:solidFill>
              <a:srgbClr val="E3DCCB"/>
            </a:solidFill>
            <a:prstDash val="solid"/>
          </a:ln>
        </p:spPr>
        <p:txBody>
          <a:bodyPr/>
          <a:lstStyle/>
          <a:p>
            <a:endParaRPr lang="en-CN"/>
          </a:p>
        </p:txBody>
      </p:sp>
      <p:sp>
        <p:nvSpPr>
          <p:cNvPr id="30" name="Shape 27"/>
          <p:cNvSpPr/>
          <p:nvPr/>
        </p:nvSpPr>
        <p:spPr>
          <a:xfrm>
            <a:off x="6035040" y="960120"/>
            <a:ext cx="2651760" cy="457200"/>
          </a:xfrm>
          <a:prstGeom prst="rect">
            <a:avLst/>
          </a:prstGeom>
          <a:solidFill>
            <a:srgbClr val="1F6FB2"/>
          </a:solidFill>
          <a:ln w="9525">
            <a:solidFill>
              <a:srgbClr val="1F6FB2"/>
            </a:solidFill>
            <a:prstDash val="solid"/>
          </a:ln>
        </p:spPr>
        <p:txBody>
          <a:bodyPr/>
          <a:lstStyle/>
          <a:p>
            <a:endParaRPr lang="en-CN"/>
          </a:p>
        </p:txBody>
      </p:sp>
      <p:sp>
        <p:nvSpPr>
          <p:cNvPr id="31" name="Text 28"/>
          <p:cNvSpPr/>
          <p:nvPr/>
        </p:nvSpPr>
        <p:spPr>
          <a:xfrm>
            <a:off x="6035040" y="960120"/>
            <a:ext cx="2651760" cy="457200"/>
          </a:xfrm>
          <a:prstGeom prst="rect">
            <a:avLst/>
          </a:prstGeom>
          <a:noFill/>
          <a:ln/>
        </p:spPr>
        <p:txBody>
          <a:bodyPr wrap="square" lIns="0" tIns="0" rIns="0" bIns="0" rtlCol="0" anchor="ctr">
            <a:normAutofit fontScale="95000"/>
          </a:bodyPr>
          <a:lstStyle/>
          <a:p>
            <a:pPr marL="0" indent="0" algn="ctr">
              <a:buNone/>
            </a:pPr>
            <a:r>
              <a:rPr lang="en-US" sz="1400" b="1" dirty="0">
                <a:solidFill>
                  <a:srgbClr val="FFFFFF"/>
                </a:solidFill>
                <a:latin typeface="Microsoft YaHei" pitchFamily="34" charset="0"/>
                <a:ea typeface="Microsoft YaHei" pitchFamily="34" charset="-122"/>
                <a:cs typeface="Microsoft YaHei" pitchFamily="34" charset="-120"/>
              </a:rPr>
              <a:t>Second fine-tuning round</a:t>
            </a:r>
            <a:endParaRPr lang="en-US" sz="1400" dirty="0"/>
          </a:p>
        </p:txBody>
      </p:sp>
      <p:sp>
        <p:nvSpPr>
          <p:cNvPr id="32" name="Text 29"/>
          <p:cNvSpPr/>
          <p:nvPr/>
        </p:nvSpPr>
        <p:spPr>
          <a:xfrm>
            <a:off x="6172200" y="1508760"/>
            <a:ext cx="2377440" cy="594360"/>
          </a:xfrm>
          <a:prstGeom prst="rect">
            <a:avLst/>
          </a:prstGeom>
          <a:noFill/>
          <a:ln/>
        </p:spPr>
        <p:txBody>
          <a:bodyPr wrap="square" lIns="0" tIns="0" rIns="0" bIns="0" rtlCol="0" anchor="ctr">
            <a:normAutofit fontScale="70488"/>
          </a:bodyP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59 photos · 57 entry-points + 8 false detections (I manually confirmed 60 hard cases)</a:t>
            </a:r>
            <a:endParaRPr lang="en-US" sz="1050" dirty="0"/>
          </a:p>
        </p:txBody>
      </p:sp>
      <p:sp>
        <p:nvSpPr>
          <p:cNvPr id="33" name="Text 30"/>
          <p:cNvSpPr/>
          <p:nvPr/>
        </p:nvSpPr>
        <p:spPr>
          <a:xfrm>
            <a:off x="6035040" y="2194560"/>
            <a:ext cx="1325880" cy="365760"/>
          </a:xfrm>
          <a:prstGeom prst="rect">
            <a:avLst/>
          </a:prstGeom>
          <a:noFill/>
          <a:ln/>
        </p:spPr>
        <p:txBody>
          <a:bodyPr wrap="square" lIns="0" tIns="0" rIns="0" bIns="0" rtlCol="0" anchor="ct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Missed / 189</a:t>
            </a:r>
            <a:endParaRPr lang="en-US" sz="1050" dirty="0"/>
          </a:p>
        </p:txBody>
      </p:sp>
      <p:sp>
        <p:nvSpPr>
          <p:cNvPr id="34" name="Text 31"/>
          <p:cNvSpPr/>
          <p:nvPr/>
        </p:nvSpPr>
        <p:spPr>
          <a:xfrm>
            <a:off x="7360920" y="2194560"/>
            <a:ext cx="1325880" cy="365760"/>
          </a:xfrm>
          <a:prstGeom prst="rect">
            <a:avLst/>
          </a:prstGeom>
          <a:noFill/>
          <a:ln/>
        </p:spPr>
        <p:txBody>
          <a:bodyPr wrap="square" lIns="0" tIns="0" rIns="0" bIns="0" rtlCol="0" anchor="ctr">
            <a:normAutofit fontScale="59750"/>
          </a:bodyPr>
          <a:lstStyle/>
          <a:p>
            <a:pPr marL="0" indent="0" algn="ctr">
              <a:buNone/>
            </a:pPr>
            <a:r>
              <a:rPr lang="en-US" sz="1050" dirty="0">
                <a:solidFill>
                  <a:srgbClr val="6B7280"/>
                </a:solidFill>
                <a:latin typeface="Microsoft YaHei" pitchFamily="34" charset="0"/>
                <a:ea typeface="Microsoft YaHei" pitchFamily="34" charset="-122"/>
                <a:cs typeface="Microsoft YaHei" pitchFamily="34" charset="-120"/>
              </a:rPr>
              <a:t>Unmatched candidates</a:t>
            </a:r>
            <a:endParaRPr lang="en-US" sz="1050" dirty="0"/>
          </a:p>
        </p:txBody>
      </p:sp>
      <p:sp>
        <p:nvSpPr>
          <p:cNvPr id="35" name="Text 32"/>
          <p:cNvSpPr/>
          <p:nvPr/>
        </p:nvSpPr>
        <p:spPr>
          <a:xfrm>
            <a:off x="6035040" y="2651760"/>
            <a:ext cx="1325880" cy="640080"/>
          </a:xfrm>
          <a:prstGeom prst="rect">
            <a:avLst/>
          </a:prstGeom>
          <a:noFill/>
          <a:ln/>
        </p:spPr>
        <p:txBody>
          <a:bodyPr wrap="square" lIns="0" tIns="0" rIns="0" bIns="0" rtlCol="0" anchor="ctr"/>
          <a:lstStyle/>
          <a:p>
            <a:pPr marL="0" indent="0" algn="ctr">
              <a:buNone/>
            </a:pPr>
            <a:r>
              <a:rPr lang="en-US" sz="3000" b="1" dirty="0">
                <a:solidFill>
                  <a:srgbClr val="2E8B57"/>
                </a:solidFill>
                <a:latin typeface="Microsoft YaHei" pitchFamily="34" charset="0"/>
                <a:ea typeface="Microsoft YaHei" pitchFamily="34" charset="-122"/>
                <a:cs typeface="Microsoft YaHei" pitchFamily="34" charset="-120"/>
              </a:rPr>
              <a:t>13</a:t>
            </a:r>
            <a:endParaRPr lang="en-US" sz="3000" dirty="0"/>
          </a:p>
        </p:txBody>
      </p:sp>
      <p:sp>
        <p:nvSpPr>
          <p:cNvPr id="36" name="Text 33"/>
          <p:cNvSpPr/>
          <p:nvPr/>
        </p:nvSpPr>
        <p:spPr>
          <a:xfrm>
            <a:off x="7360920" y="2651760"/>
            <a:ext cx="1325880" cy="640080"/>
          </a:xfrm>
          <a:prstGeom prst="rect">
            <a:avLst/>
          </a:prstGeom>
          <a:noFill/>
          <a:ln/>
        </p:spPr>
        <p:txBody>
          <a:bodyPr wrap="square" lIns="0" tIns="0" rIns="0" bIns="0" rtlCol="0" anchor="ctr"/>
          <a:lstStyle/>
          <a:p>
            <a:pPr marL="0" indent="0" algn="ctr">
              <a:buNone/>
            </a:pPr>
            <a:r>
              <a:rPr lang="en-US" altLang="zh-CN" sz="3000" b="1" dirty="0">
                <a:solidFill>
                  <a:srgbClr val="D62839"/>
                </a:solidFill>
                <a:latin typeface="Microsoft YaHei" pitchFamily="34" charset="0"/>
                <a:ea typeface="Microsoft YaHei" pitchFamily="34" charset="-122"/>
              </a:rPr>
              <a:t>56</a:t>
            </a:r>
            <a:endParaRPr lang="en-US" sz="3000" dirty="0"/>
          </a:p>
        </p:txBody>
      </p:sp>
      <p:sp>
        <p:nvSpPr>
          <p:cNvPr id="37" name="Text 34"/>
          <p:cNvSpPr/>
          <p:nvPr/>
        </p:nvSpPr>
        <p:spPr>
          <a:xfrm>
            <a:off x="457200" y="3639312"/>
            <a:ext cx="8229600" cy="320040"/>
          </a:xfrm>
          <a:prstGeom prst="rect">
            <a:avLst/>
          </a:prstGeom>
          <a:noFill/>
          <a:ln/>
        </p:spPr>
        <p:txBody>
          <a:bodyPr wrap="square" lIns="0" tIns="0" rIns="0" bIns="0" rtlCol="0" anchor="t">
            <a:normAutofit fontScale="59364"/>
          </a:bodyPr>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A "teacher" constraint during training: in regions without manual labels, keep the original model’s output as much as possible (similar in spirit to knowledge distillation)</a:t>
            </a:r>
            <a:endParaRPr lang="en-US" sz="1100" dirty="0"/>
          </a:p>
        </p:txBody>
      </p:sp>
      <p:sp>
        <p:nvSpPr>
          <p:cNvPr id="38" name="Shape 35"/>
          <p:cNvSpPr/>
          <p:nvPr/>
        </p:nvSpPr>
        <p:spPr>
          <a:xfrm>
            <a:off x="457200" y="4069080"/>
            <a:ext cx="8229600" cy="548640"/>
          </a:xfrm>
          <a:prstGeom prst="rect">
            <a:avLst/>
          </a:prstGeom>
          <a:solidFill>
            <a:srgbClr val="14213D"/>
          </a:solidFill>
          <a:ln w="9525">
            <a:solidFill>
              <a:srgbClr val="14213D"/>
            </a:solidFill>
            <a:prstDash val="solid"/>
          </a:ln>
        </p:spPr>
        <p:txBody>
          <a:bodyPr/>
          <a:lstStyle/>
          <a:p>
            <a:endParaRPr lang="en-CN"/>
          </a:p>
        </p:txBody>
      </p:sp>
      <p:sp>
        <p:nvSpPr>
          <p:cNvPr id="39" name="Text 36"/>
          <p:cNvSpPr/>
          <p:nvPr/>
        </p:nvSpPr>
        <p:spPr>
          <a:xfrm>
            <a:off x="640080" y="4069080"/>
            <a:ext cx="7863840" cy="548640"/>
          </a:xfrm>
          <a:prstGeom prst="rect">
            <a:avLst/>
          </a:prstGeom>
          <a:noFill/>
          <a:ln/>
        </p:spPr>
        <p:txBody>
          <a:bodyPr wrap="square" lIns="0" tIns="0" rIns="0" bIns="0" rtlCol="0" anchor="ctr">
            <a:normAutofit fontScale="57055"/>
          </a:bodyPr>
          <a:lstStyle/>
          <a:p>
            <a:pPr marL="0" indent="0">
              <a:buNone/>
            </a:pPr>
            <a:r>
              <a:rPr lang="en-US" sz="1500" b="1" dirty="0" err="1">
                <a:solidFill>
                  <a:srgbClr val="FFFFFF"/>
                </a:solidFill>
                <a:latin typeface="Microsoft YaHei" pitchFamily="34" charset="0"/>
                <a:ea typeface="Microsoft YaHei" pitchFamily="34" charset="-122"/>
                <a:cs typeface="Microsoft YaHei" pitchFamily="34" charset="-120"/>
              </a:rPr>
              <a:t>Conclusion: after fine-tuning, both Recall and Precision improved markedly, and the second-round model was integrated into the software.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From Entry-Point to Score</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Text 6"/>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9" name="Shape 7"/>
          <p:cNvSpPr/>
          <p:nvPr/>
        </p:nvSpPr>
        <p:spPr>
          <a:xfrm>
            <a:off x="8284464" y="329184"/>
            <a:ext cx="402336" cy="256032"/>
          </a:xfrm>
          <a:prstGeom prst="roundRect">
            <a:avLst>
              <a:gd name="adj" fmla="val 21429"/>
            </a:avLst>
          </a:prstGeom>
          <a:solidFill>
            <a:srgbClr val="F2B705"/>
          </a:solidFill>
          <a:ln w="12700">
            <a:solidFill>
              <a:srgbClr val="F2B705"/>
            </a:solidFill>
            <a:prstDash val="solid"/>
          </a:ln>
        </p:spPr>
        <p:txBody>
          <a:bodyPr/>
          <a:lstStyle/>
          <a:p>
            <a:endParaRPr lang="en-CN"/>
          </a:p>
        </p:txBody>
      </p:sp>
      <p:sp>
        <p:nvSpPr>
          <p:cNvPr id="10" name="Text 8"/>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b="1" dirty="0">
                <a:solidFill>
                  <a:srgbClr val="14213D"/>
                </a:solidFill>
                <a:latin typeface="Microsoft YaHei" pitchFamily="34" charset="0"/>
                <a:ea typeface="Microsoft YaHei" pitchFamily="34" charset="-122"/>
                <a:cs typeface="Microsoft YaHei" pitchFamily="34" charset="-120"/>
              </a:rPr>
              <a:t>Scoring</a:t>
            </a:r>
            <a:endParaRPr lang="en-US" sz="1000" dirty="0"/>
          </a:p>
        </p:txBody>
      </p:sp>
      <p:sp>
        <p:nvSpPr>
          <p:cNvPr id="11" name="Text 9"/>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14</a:t>
            </a:r>
            <a:endParaRPr lang="en-US" sz="900" dirty="0"/>
          </a:p>
        </p:txBody>
      </p:sp>
      <p:pic>
        <p:nvPicPr>
          <p:cNvPr id="13" name="Image 0" descr="/Users/xiaolu/source/ArcheryAssistant-Launcher-1.0.0-win64/课题报告/答辩PPT/assets/calib.jpg"/>
          <p:cNvPicPr>
            <a:picLocks noChangeAspect="1"/>
          </p:cNvPicPr>
          <p:nvPr/>
        </p:nvPicPr>
        <p:blipFill>
          <a:blip r:embed="rId3"/>
          <a:stretch>
            <a:fillRect/>
          </a:stretch>
        </p:blipFill>
        <p:spPr>
          <a:xfrm>
            <a:off x="960120" y="914400"/>
            <a:ext cx="3291840" cy="3172968"/>
          </a:xfrm>
          <a:prstGeom prst="rect">
            <a:avLst/>
          </a:prstGeom>
        </p:spPr>
      </p:pic>
      <p:sp>
        <p:nvSpPr>
          <p:cNvPr id="14" name="Text 10"/>
          <p:cNvSpPr/>
          <p:nvPr/>
        </p:nvSpPr>
        <p:spPr>
          <a:xfrm>
            <a:off x="457200" y="4160520"/>
            <a:ext cx="4297680" cy="256032"/>
          </a:xfrm>
          <a:prstGeom prst="rect">
            <a:avLst/>
          </a:prstGeom>
          <a:noFill/>
          <a:ln/>
        </p:spPr>
        <p:txBody>
          <a:bodyPr wrap="square" lIns="0" tIns="0" rIns="0" bIns="0" rtlCol="0" anchor="t"/>
          <a:lstStyle/>
          <a:p>
            <a:pPr marL="0" indent="0" algn="ctr">
              <a:buNone/>
            </a:pPr>
            <a:r>
              <a:rPr lang="en-US" sz="1000" dirty="0">
                <a:solidFill>
                  <a:srgbClr val="6B7280"/>
                </a:solidFill>
                <a:latin typeface="Microsoft YaHei" pitchFamily="34" charset="0"/>
                <a:ea typeface="Microsoft YaHei" pitchFamily="34" charset="-122"/>
                <a:cs typeface="Microsoft YaHei" pitchFamily="34" charset="-120"/>
              </a:rPr>
              <a:t>Green rings show the target-face calibration result</a:t>
            </a:r>
            <a:endParaRPr lang="en-US" sz="1000" dirty="0"/>
          </a:p>
        </p:txBody>
      </p:sp>
      <p:sp>
        <p:nvSpPr>
          <p:cNvPr id="15" name="Shape 11"/>
          <p:cNvSpPr/>
          <p:nvPr/>
        </p:nvSpPr>
        <p:spPr>
          <a:xfrm>
            <a:off x="4983480" y="1014984"/>
            <a:ext cx="402336" cy="402336"/>
          </a:xfrm>
          <a:prstGeom prst="ellipse">
            <a:avLst/>
          </a:prstGeom>
          <a:solidFill>
            <a:srgbClr val="F2B705"/>
          </a:solidFill>
          <a:ln w="12700">
            <a:solidFill>
              <a:srgbClr val="F2B705"/>
            </a:solidFill>
            <a:prstDash val="solid"/>
          </a:ln>
        </p:spPr>
        <p:txBody>
          <a:bodyPr/>
          <a:lstStyle/>
          <a:p>
            <a:endParaRPr lang="en-CN"/>
          </a:p>
        </p:txBody>
      </p:sp>
      <p:sp>
        <p:nvSpPr>
          <p:cNvPr id="16" name="Text 12"/>
          <p:cNvSpPr/>
          <p:nvPr/>
        </p:nvSpPr>
        <p:spPr>
          <a:xfrm>
            <a:off x="4983480" y="1014984"/>
            <a:ext cx="402336" cy="402336"/>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1</a:t>
            </a:r>
            <a:endParaRPr lang="en-US" sz="1300" dirty="0"/>
          </a:p>
        </p:txBody>
      </p:sp>
      <p:sp>
        <p:nvSpPr>
          <p:cNvPr id="17" name="Text 13"/>
          <p:cNvSpPr/>
          <p:nvPr/>
        </p:nvSpPr>
        <p:spPr>
          <a:xfrm>
            <a:off x="5532120" y="960120"/>
            <a:ext cx="3154680" cy="512064"/>
          </a:xfrm>
          <a:prstGeom prst="rect">
            <a:avLst/>
          </a:prstGeom>
          <a:noFill/>
          <a:ln/>
        </p:spPr>
        <p:txBody>
          <a:bodyPr wrap="square" lIns="0" tIns="0" rIns="0" bIns="0" rtlCol="0" anchor="ctr">
            <a:normAutofit fontScale="57530"/>
          </a:bodyPr>
          <a:lstStyle/>
          <a:p>
            <a:pPr marL="0" indent="0">
              <a:buNone/>
            </a:pPr>
            <a:r>
              <a:rPr lang="en-US" sz="1400" b="1" dirty="0">
                <a:solidFill>
                  <a:srgbClr val="14213D"/>
                </a:solidFill>
                <a:latin typeface="Microsoft YaHei" pitchFamily="34" charset="0"/>
                <a:ea typeface="Microsoft YaHei" pitchFamily="34" charset="-122"/>
                <a:cs typeface="Microsoft YaHei" pitchFamily="34" charset="-120"/>
              </a:rPr>
              <a:t>Identify the main target and target type</a:t>
            </a:r>
            <a:endParaRPr lang="en-US" sz="1400" dirty="0"/>
          </a:p>
        </p:txBody>
      </p:sp>
      <p:sp>
        <p:nvSpPr>
          <p:cNvPr id="18" name="Shape 14"/>
          <p:cNvSpPr/>
          <p:nvPr/>
        </p:nvSpPr>
        <p:spPr>
          <a:xfrm>
            <a:off x="4983480" y="1636776"/>
            <a:ext cx="402336" cy="402336"/>
          </a:xfrm>
          <a:prstGeom prst="ellipse">
            <a:avLst/>
          </a:prstGeom>
          <a:solidFill>
            <a:srgbClr val="F2B705"/>
          </a:solidFill>
          <a:ln w="12700">
            <a:solidFill>
              <a:srgbClr val="F2B705"/>
            </a:solidFill>
            <a:prstDash val="solid"/>
          </a:ln>
        </p:spPr>
        <p:txBody>
          <a:bodyPr/>
          <a:lstStyle/>
          <a:p>
            <a:endParaRPr lang="en-CN"/>
          </a:p>
        </p:txBody>
      </p:sp>
      <p:sp>
        <p:nvSpPr>
          <p:cNvPr id="19" name="Text 15"/>
          <p:cNvSpPr/>
          <p:nvPr/>
        </p:nvSpPr>
        <p:spPr>
          <a:xfrm>
            <a:off x="4983480" y="1636776"/>
            <a:ext cx="402336" cy="402336"/>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2</a:t>
            </a:r>
            <a:endParaRPr lang="en-US" sz="1300" dirty="0"/>
          </a:p>
        </p:txBody>
      </p:sp>
      <p:sp>
        <p:nvSpPr>
          <p:cNvPr id="20" name="Text 16"/>
          <p:cNvSpPr/>
          <p:nvPr/>
        </p:nvSpPr>
        <p:spPr>
          <a:xfrm>
            <a:off x="5532120" y="1581912"/>
            <a:ext cx="3154680" cy="512064"/>
          </a:xfrm>
          <a:prstGeom prst="rect">
            <a:avLst/>
          </a:prstGeom>
          <a:noFill/>
          <a:ln/>
        </p:spPr>
        <p:txBody>
          <a:bodyPr wrap="square" lIns="0" tIns="0" rIns="0" bIns="0" rtlCol="0" anchor="ctr">
            <a:normAutofit fontScale="57530"/>
          </a:bodyPr>
          <a:lstStyle/>
          <a:p>
            <a:pPr marL="0" indent="0">
              <a:buNone/>
            </a:pPr>
            <a:r>
              <a:rPr lang="en-US" sz="1400" b="1" dirty="0">
                <a:solidFill>
                  <a:srgbClr val="14213D"/>
                </a:solidFill>
                <a:latin typeface="Microsoft YaHei" pitchFamily="34" charset="0"/>
                <a:ea typeface="Microsoft YaHei" pitchFamily="34" charset="-122"/>
                <a:cs typeface="Microsoft YaHei" pitchFamily="34" charset="-120"/>
              </a:rPr>
              <a:t>Calibrate the center and ring lines</a:t>
            </a:r>
            <a:endParaRPr lang="en-US" sz="1400" dirty="0"/>
          </a:p>
        </p:txBody>
      </p:sp>
      <p:sp>
        <p:nvSpPr>
          <p:cNvPr id="21" name="Shape 17"/>
          <p:cNvSpPr/>
          <p:nvPr/>
        </p:nvSpPr>
        <p:spPr>
          <a:xfrm>
            <a:off x="4983480" y="2258568"/>
            <a:ext cx="402336" cy="402336"/>
          </a:xfrm>
          <a:prstGeom prst="ellipse">
            <a:avLst/>
          </a:prstGeom>
          <a:solidFill>
            <a:srgbClr val="F2B705"/>
          </a:solidFill>
          <a:ln w="12700">
            <a:solidFill>
              <a:srgbClr val="F2B705"/>
            </a:solidFill>
            <a:prstDash val="solid"/>
          </a:ln>
        </p:spPr>
        <p:txBody>
          <a:bodyPr/>
          <a:lstStyle/>
          <a:p>
            <a:endParaRPr lang="en-CN"/>
          </a:p>
        </p:txBody>
      </p:sp>
      <p:sp>
        <p:nvSpPr>
          <p:cNvPr id="22" name="Text 18"/>
          <p:cNvSpPr/>
          <p:nvPr/>
        </p:nvSpPr>
        <p:spPr>
          <a:xfrm>
            <a:off x="4983480" y="2258568"/>
            <a:ext cx="402336" cy="402336"/>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3</a:t>
            </a:r>
            <a:endParaRPr lang="en-US" sz="1300" dirty="0"/>
          </a:p>
        </p:txBody>
      </p:sp>
      <p:sp>
        <p:nvSpPr>
          <p:cNvPr id="23" name="Text 19"/>
          <p:cNvSpPr/>
          <p:nvPr/>
        </p:nvSpPr>
        <p:spPr>
          <a:xfrm>
            <a:off x="5532120" y="2203704"/>
            <a:ext cx="3154680" cy="512064"/>
          </a:xfrm>
          <a:prstGeom prst="rect">
            <a:avLst/>
          </a:prstGeom>
          <a:noFill/>
          <a:ln/>
        </p:spPr>
        <p:txBody>
          <a:bodyPr wrap="square" lIns="0" tIns="0" rIns="0" bIns="0" rtlCol="0" anchor="ctr">
            <a:normAutofit fontScale="91070"/>
          </a:bodyPr>
          <a:lstStyle/>
          <a:p>
            <a:pPr marL="0" indent="0">
              <a:buNone/>
            </a:pPr>
            <a:r>
              <a:rPr lang="en-US" sz="1400" b="1" dirty="0">
                <a:solidFill>
                  <a:srgbClr val="14213D"/>
                </a:solidFill>
                <a:latin typeface="Microsoft YaHei" pitchFamily="34" charset="0"/>
                <a:ea typeface="Microsoft YaHei" pitchFamily="34" charset="-122"/>
                <a:cs typeface="Microsoft YaHei" pitchFamily="34" charset="-120"/>
              </a:rPr>
              <a:t>Correct rotation and aspect ratio</a:t>
            </a:r>
            <a:endParaRPr lang="en-US" sz="1400" dirty="0"/>
          </a:p>
        </p:txBody>
      </p:sp>
      <p:sp>
        <p:nvSpPr>
          <p:cNvPr id="24" name="Shape 20"/>
          <p:cNvSpPr/>
          <p:nvPr/>
        </p:nvSpPr>
        <p:spPr>
          <a:xfrm>
            <a:off x="4983480" y="2880360"/>
            <a:ext cx="402336" cy="402336"/>
          </a:xfrm>
          <a:prstGeom prst="ellipse">
            <a:avLst/>
          </a:prstGeom>
          <a:solidFill>
            <a:srgbClr val="F2B705"/>
          </a:solidFill>
          <a:ln w="12700">
            <a:solidFill>
              <a:srgbClr val="F2B705"/>
            </a:solidFill>
            <a:prstDash val="solid"/>
          </a:ln>
        </p:spPr>
        <p:txBody>
          <a:bodyPr/>
          <a:lstStyle/>
          <a:p>
            <a:endParaRPr lang="en-CN"/>
          </a:p>
        </p:txBody>
      </p:sp>
      <p:sp>
        <p:nvSpPr>
          <p:cNvPr id="25" name="Text 21"/>
          <p:cNvSpPr/>
          <p:nvPr/>
        </p:nvSpPr>
        <p:spPr>
          <a:xfrm>
            <a:off x="4983480" y="2880360"/>
            <a:ext cx="402336" cy="402336"/>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4</a:t>
            </a:r>
            <a:endParaRPr lang="en-US" sz="1300" dirty="0"/>
          </a:p>
        </p:txBody>
      </p:sp>
      <p:sp>
        <p:nvSpPr>
          <p:cNvPr id="26" name="Text 22"/>
          <p:cNvSpPr/>
          <p:nvPr/>
        </p:nvSpPr>
        <p:spPr>
          <a:xfrm>
            <a:off x="5532120" y="2825496"/>
            <a:ext cx="3154680" cy="512064"/>
          </a:xfrm>
          <a:prstGeom prst="rect">
            <a:avLst/>
          </a:prstGeom>
          <a:noFill/>
          <a:ln/>
        </p:spPr>
        <p:txBody>
          <a:bodyPr wrap="square" lIns="0" tIns="0" rIns="0" bIns="0" rtlCol="0" anchor="ctr">
            <a:normAutofit fontScale="57530"/>
          </a:bodyPr>
          <a:lstStyle/>
          <a:p>
            <a:pPr marL="0" indent="0">
              <a:buNone/>
            </a:pPr>
            <a:r>
              <a:rPr lang="en-US" sz="1400" b="1" dirty="0">
                <a:solidFill>
                  <a:srgbClr val="14213D"/>
                </a:solidFill>
                <a:latin typeface="Microsoft YaHei" pitchFamily="34" charset="0"/>
                <a:ea typeface="Microsoft YaHei" pitchFamily="34" charset="-122"/>
                <a:cs typeface="Microsoft YaHei" pitchFamily="34" charset="-120"/>
              </a:rPr>
              <a:t>Assign scores by distance to the center</a:t>
            </a:r>
            <a:endParaRPr lang="en-US" sz="1400" dirty="0"/>
          </a:p>
        </p:txBody>
      </p:sp>
      <p:sp>
        <p:nvSpPr>
          <p:cNvPr id="27" name="Shape 23"/>
          <p:cNvSpPr/>
          <p:nvPr/>
        </p:nvSpPr>
        <p:spPr>
          <a:xfrm>
            <a:off x="4983480" y="3520440"/>
            <a:ext cx="3703320" cy="566928"/>
          </a:xfrm>
          <a:prstGeom prst="rect">
            <a:avLst/>
          </a:prstGeom>
          <a:solidFill>
            <a:srgbClr val="FFF3C4"/>
          </a:solidFill>
          <a:ln w="9525">
            <a:solidFill>
              <a:srgbClr val="EBD27A"/>
            </a:solidFill>
            <a:prstDash val="solid"/>
          </a:ln>
        </p:spPr>
        <p:txBody>
          <a:bodyPr/>
          <a:lstStyle/>
          <a:p>
            <a:endParaRPr lang="en-CN"/>
          </a:p>
        </p:txBody>
      </p:sp>
      <p:sp>
        <p:nvSpPr>
          <p:cNvPr id="28" name="Text 24"/>
          <p:cNvSpPr/>
          <p:nvPr/>
        </p:nvSpPr>
        <p:spPr>
          <a:xfrm>
            <a:off x="5120640" y="3520440"/>
            <a:ext cx="3474720" cy="566928"/>
          </a:xfrm>
          <a:prstGeom prst="rect">
            <a:avLst/>
          </a:prstGeom>
          <a:noFill/>
          <a:ln/>
        </p:spPr>
        <p:txBody>
          <a:bodyPr wrap="square" lIns="0" tIns="0" rIns="0" bIns="0" rtlCol="0" anchor="ctr">
            <a:normAutofit fontScale="70105"/>
          </a:bodyPr>
          <a:lstStyle/>
          <a:p>
            <a:pPr marL="0" indent="0">
              <a:buNone/>
            </a:pPr>
            <a:r>
              <a:rPr lang="en-US" sz="1150" dirty="0">
                <a:solidFill>
                  <a:srgbClr val="1F2933"/>
                </a:solidFill>
                <a:latin typeface="Microsoft YaHei" pitchFamily="34" charset="0"/>
                <a:ea typeface="Microsoft YaHei" pitchFamily="34" charset="-122"/>
                <a:cs typeface="Microsoft YaHei" pitchFamily="34" charset="-120"/>
              </a:rPr>
              <a:t>Points near a ring line → yellow prompt for manual check; points can be added, dragged, or re-scored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Shape 0"/>
          <p:cNvSpPr/>
          <p:nvPr/>
        </p:nvSpPr>
        <p:spPr>
          <a:xfrm>
            <a:off x="457200" y="301752"/>
            <a:ext cx="310896" cy="310896"/>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510052" y="354604"/>
            <a:ext cx="205191" cy="205191"/>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561350" y="405902"/>
            <a:ext cx="102596" cy="10259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896112" y="228600"/>
            <a:ext cx="5943600" cy="457200"/>
          </a:xfrm>
          <a:prstGeom prst="rect">
            <a:avLst/>
          </a:prstGeom>
          <a:noFill/>
          <a:ln/>
        </p:spPr>
        <p:txBody>
          <a:bodyPr wrap="square" lIns="0" tIns="0" rIns="0" bIns="0" rtlCol="0" anchor="ctr"/>
          <a:lstStyle/>
          <a:p>
            <a:pPr marL="0" indent="0">
              <a:buNone/>
            </a:pPr>
            <a:r>
              <a:rPr lang="en-US" sz="2200" b="1" dirty="0">
                <a:solidFill>
                  <a:srgbClr val="14213D"/>
                </a:solidFill>
                <a:latin typeface="Microsoft YaHei" pitchFamily="34" charset="0"/>
                <a:ea typeface="Microsoft YaHei" pitchFamily="34" charset="-122"/>
                <a:cs typeface="Microsoft YaHei" pitchFamily="34" charset="-120"/>
              </a:rPr>
              <a:t>Limitations and Next Steps</a:t>
            </a:r>
            <a:endParaRPr lang="en-US" sz="2200" dirty="0"/>
          </a:p>
        </p:txBody>
      </p:sp>
      <p:sp>
        <p:nvSpPr>
          <p:cNvPr id="6" name="Text 4"/>
          <p:cNvSpPr/>
          <p:nvPr/>
        </p:nvSpPr>
        <p:spPr>
          <a:xfrm>
            <a:off x="6967728" y="329184"/>
            <a:ext cx="402336" cy="256032"/>
          </a:xfrm>
          <a:prstGeom prst="rect">
            <a:avLst/>
          </a:prstGeom>
          <a:noFill/>
          <a:ln/>
        </p:spPr>
        <p:txBody>
          <a:bodyPr wrap="square" lIns="0" tIns="0" rIns="0" bIns="0" rtlCol="0" anchor="ctr">
            <a:normAutofit fontScale="69897"/>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Data</a:t>
            </a:r>
            <a:endParaRPr lang="en-US" sz="1000" dirty="0"/>
          </a:p>
        </p:txBody>
      </p:sp>
      <p:sp>
        <p:nvSpPr>
          <p:cNvPr id="7" name="Text 5"/>
          <p:cNvSpPr/>
          <p:nvPr/>
        </p:nvSpPr>
        <p:spPr>
          <a:xfrm>
            <a:off x="7406640"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Heatmap</a:t>
            </a:r>
            <a:endParaRPr lang="en-US" sz="1000" dirty="0"/>
          </a:p>
        </p:txBody>
      </p:sp>
      <p:sp>
        <p:nvSpPr>
          <p:cNvPr id="8" name="Text 6"/>
          <p:cNvSpPr/>
          <p:nvPr/>
        </p:nvSpPr>
        <p:spPr>
          <a:xfrm>
            <a:off x="7845552"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Baseline</a:t>
            </a:r>
            <a:endParaRPr lang="en-US" sz="1000" dirty="0"/>
          </a:p>
        </p:txBody>
      </p:sp>
      <p:sp>
        <p:nvSpPr>
          <p:cNvPr id="9" name="Text 7"/>
          <p:cNvSpPr/>
          <p:nvPr/>
        </p:nvSpPr>
        <p:spPr>
          <a:xfrm>
            <a:off x="8284464" y="329184"/>
            <a:ext cx="402336" cy="256032"/>
          </a:xfrm>
          <a:prstGeom prst="rect">
            <a:avLst/>
          </a:prstGeom>
          <a:noFill/>
          <a:ln/>
        </p:spPr>
        <p:txBody>
          <a:bodyPr wrap="square" lIns="0" tIns="0" rIns="0" bIns="0" rtlCol="0" anchor="ctr">
            <a:normAutofit fontScale="50000"/>
          </a:bodyPr>
          <a:lstStyle/>
          <a:p>
            <a:pPr marL="0" indent="0" algn="ctr">
              <a:buNone/>
            </a:pPr>
            <a:r>
              <a:rPr lang="en-US" sz="1000" dirty="0">
                <a:solidFill>
                  <a:srgbClr val="A8A29E"/>
                </a:solidFill>
                <a:latin typeface="Microsoft YaHei" pitchFamily="34" charset="0"/>
                <a:ea typeface="Microsoft YaHei" pitchFamily="34" charset="-122"/>
                <a:cs typeface="Microsoft YaHei" pitchFamily="34" charset="-120"/>
              </a:rPr>
              <a:t>Scoring</a:t>
            </a:r>
            <a:endParaRPr lang="en-US" sz="1000" dirty="0"/>
          </a:p>
        </p:txBody>
      </p:sp>
      <p:sp>
        <p:nvSpPr>
          <p:cNvPr id="10" name="Text 8"/>
          <p:cNvSpPr/>
          <p:nvPr/>
        </p:nvSpPr>
        <p:spPr>
          <a:xfrm>
            <a:off x="8321040" y="4800600"/>
            <a:ext cx="365760" cy="228600"/>
          </a:xfrm>
          <a:prstGeom prst="rect">
            <a:avLst/>
          </a:prstGeom>
          <a:noFill/>
          <a:ln/>
        </p:spPr>
        <p:txBody>
          <a:bodyPr wrap="square" lIns="0" tIns="0" rIns="0" bIns="0" rtlCol="0" anchor="t"/>
          <a:lstStyle/>
          <a:p>
            <a:pPr marL="0" indent="0" algn="r">
              <a:buNone/>
            </a:pPr>
            <a:r>
              <a:rPr lang="en-US" sz="900" dirty="0">
                <a:solidFill>
                  <a:srgbClr val="6B7280"/>
                </a:solidFill>
                <a:latin typeface="Microsoft YaHei" pitchFamily="34" charset="0"/>
                <a:ea typeface="Microsoft YaHei" pitchFamily="34" charset="-122"/>
                <a:cs typeface="Microsoft YaHei" pitchFamily="34" charset="-120"/>
              </a:rPr>
              <a:t>15</a:t>
            </a:r>
            <a:endParaRPr lang="en-US" sz="900" dirty="0"/>
          </a:p>
        </p:txBody>
      </p:sp>
      <p:sp>
        <p:nvSpPr>
          <p:cNvPr id="12" name="Shape 9"/>
          <p:cNvSpPr/>
          <p:nvPr/>
        </p:nvSpPr>
        <p:spPr>
          <a:xfrm>
            <a:off x="457200" y="914400"/>
            <a:ext cx="4023360" cy="3657600"/>
          </a:xfrm>
          <a:prstGeom prst="rect">
            <a:avLst/>
          </a:prstGeom>
          <a:solidFill>
            <a:srgbClr val="FFFFFF"/>
          </a:solidFill>
          <a:ln w="9525">
            <a:solidFill>
              <a:srgbClr val="E3DCCB"/>
            </a:solidFill>
            <a:prstDash val="solid"/>
          </a:ln>
        </p:spPr>
        <p:txBody>
          <a:bodyPr/>
          <a:lstStyle/>
          <a:p>
            <a:endParaRPr lang="en-CN"/>
          </a:p>
        </p:txBody>
      </p:sp>
      <p:sp>
        <p:nvSpPr>
          <p:cNvPr id="13" name="Shape 10"/>
          <p:cNvSpPr/>
          <p:nvPr/>
        </p:nvSpPr>
        <p:spPr>
          <a:xfrm>
            <a:off x="457200" y="914400"/>
            <a:ext cx="64008" cy="3657600"/>
          </a:xfrm>
          <a:prstGeom prst="rect">
            <a:avLst/>
          </a:prstGeom>
          <a:solidFill>
            <a:srgbClr val="D62839"/>
          </a:solidFill>
          <a:ln w="9525">
            <a:solidFill>
              <a:srgbClr val="D62839"/>
            </a:solidFill>
            <a:prstDash val="solid"/>
          </a:ln>
        </p:spPr>
        <p:txBody>
          <a:bodyPr/>
          <a:lstStyle/>
          <a:p>
            <a:endParaRPr lang="en-CN"/>
          </a:p>
        </p:txBody>
      </p:sp>
      <p:sp>
        <p:nvSpPr>
          <p:cNvPr id="14" name="Text 11"/>
          <p:cNvSpPr/>
          <p:nvPr/>
        </p:nvSpPr>
        <p:spPr>
          <a:xfrm>
            <a:off x="731520" y="1024128"/>
            <a:ext cx="3566160" cy="365760"/>
          </a:xfrm>
          <a:prstGeom prst="rect">
            <a:avLst/>
          </a:prstGeom>
          <a:noFill/>
          <a:ln/>
        </p:spPr>
        <p:txBody>
          <a:bodyPr wrap="square" lIns="0" tIns="0" rIns="0" bIns="0" rtlCol="0" anchor="t"/>
          <a:lstStyle/>
          <a:p>
            <a:pPr marL="0" indent="0">
              <a:buNone/>
            </a:pPr>
            <a:r>
              <a:rPr lang="en-US" sz="1700" b="1" dirty="0">
                <a:solidFill>
                  <a:srgbClr val="D62839"/>
                </a:solidFill>
                <a:latin typeface="Microsoft YaHei" pitchFamily="34" charset="0"/>
                <a:ea typeface="Microsoft YaHei" pitchFamily="34" charset="-122"/>
                <a:cs typeface="Microsoft YaHei" pitchFamily="34" charset="-120"/>
              </a:rPr>
              <a:t>Limitations</a:t>
            </a:r>
            <a:endParaRPr lang="en-US" sz="1700" dirty="0"/>
          </a:p>
        </p:txBody>
      </p:sp>
      <p:sp>
        <p:nvSpPr>
          <p:cNvPr id="15" name="Text 12"/>
          <p:cNvSpPr/>
          <p:nvPr/>
        </p:nvSpPr>
        <p:spPr>
          <a:xfrm>
            <a:off x="731520" y="1508760"/>
            <a:ext cx="274320" cy="457200"/>
          </a:xfrm>
          <a:prstGeom prst="rect">
            <a:avLst/>
          </a:prstGeom>
          <a:noFill/>
          <a:ln/>
        </p:spPr>
        <p:txBody>
          <a:bodyPr wrap="square" lIns="0" tIns="0" rIns="0" bIns="0" rtlCol="0" anchor="ctr">
            <a:normAutofit fontScale="70054"/>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1</a:t>
            </a:r>
            <a:endParaRPr lang="en-US" sz="1500" dirty="0"/>
          </a:p>
        </p:txBody>
      </p:sp>
      <p:sp>
        <p:nvSpPr>
          <p:cNvPr id="16" name="Text 13"/>
          <p:cNvSpPr/>
          <p:nvPr/>
        </p:nvSpPr>
        <p:spPr>
          <a:xfrm>
            <a:off x="1024128" y="1508760"/>
            <a:ext cx="3337560" cy="457200"/>
          </a:xfrm>
          <a:prstGeom prst="rect">
            <a:avLst/>
          </a:prstGeom>
          <a:noFill/>
          <a:ln/>
        </p:spPr>
        <p:txBody>
          <a:bodyPr wrap="square" lIns="0" tIns="0" rIns="0" bIns="0" rtlCol="0" anchor="ctr">
            <a:normAutofit fontScale="58358"/>
          </a:bodyPr>
          <a:lstStyle/>
          <a:p>
            <a:pPr marL="0" indent="0">
              <a:buNone/>
            </a:pPr>
            <a:r>
              <a:rPr lang="en-US" sz="1250" dirty="0">
                <a:solidFill>
                  <a:srgbClr val="1F2933"/>
                </a:solidFill>
                <a:latin typeface="Microsoft YaHei" pitchFamily="34" charset="0"/>
                <a:ea typeface="Microsoft YaHei" pitchFamily="34" charset="-122"/>
                <a:cs typeface="Microsoft YaHei" pitchFamily="34" charset="-120"/>
              </a:rPr>
              <a:t>Reference annotations are incomplete, so Precision is only indicative</a:t>
            </a:r>
            <a:endParaRPr lang="en-US" sz="1250" dirty="0"/>
          </a:p>
        </p:txBody>
      </p:sp>
      <p:sp>
        <p:nvSpPr>
          <p:cNvPr id="17" name="Text 14"/>
          <p:cNvSpPr/>
          <p:nvPr/>
        </p:nvSpPr>
        <p:spPr>
          <a:xfrm>
            <a:off x="731520" y="2093976"/>
            <a:ext cx="274320" cy="457200"/>
          </a:xfrm>
          <a:prstGeom prst="rect">
            <a:avLst/>
          </a:prstGeom>
          <a:noFill/>
          <a:ln/>
        </p:spPr>
        <p:txBody>
          <a:bodyPr wrap="square" lIns="0" tIns="0" rIns="0" bIns="0" rtlCol="0" anchor="ctr">
            <a:normAutofit fontScale="70054"/>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2</a:t>
            </a:r>
            <a:endParaRPr lang="en-US" sz="1500" dirty="0"/>
          </a:p>
        </p:txBody>
      </p:sp>
      <p:sp>
        <p:nvSpPr>
          <p:cNvPr id="18" name="Text 15"/>
          <p:cNvSpPr/>
          <p:nvPr/>
        </p:nvSpPr>
        <p:spPr>
          <a:xfrm>
            <a:off x="1024128" y="2093976"/>
            <a:ext cx="3337560" cy="457200"/>
          </a:xfrm>
          <a:prstGeom prst="rect">
            <a:avLst/>
          </a:prstGeom>
          <a:noFill/>
          <a:ln/>
        </p:spPr>
        <p:txBody>
          <a:bodyPr wrap="square" lIns="0" tIns="0" rIns="0" bIns="0" rtlCol="0" anchor="ctr">
            <a:normAutofit fontScale="41551"/>
          </a:bodyPr>
          <a:lstStyle/>
          <a:p>
            <a:pPr marL="0" indent="0">
              <a:buNone/>
            </a:pPr>
            <a:r>
              <a:rPr lang="en-US" sz="1250" dirty="0">
                <a:solidFill>
                  <a:srgbClr val="1F2933"/>
                </a:solidFill>
                <a:latin typeface="Microsoft YaHei" pitchFamily="34" charset="0"/>
                <a:ea typeface="Microsoft YaHei" pitchFamily="34" charset="-122"/>
                <a:cs typeface="Microsoft YaHei" pitchFamily="34" charset="-120"/>
              </a:rPr>
              <a:t>No independent test set; the 28 development photos were reused many times</a:t>
            </a:r>
            <a:endParaRPr lang="en-US" sz="1250" dirty="0"/>
          </a:p>
        </p:txBody>
      </p:sp>
      <p:sp>
        <p:nvSpPr>
          <p:cNvPr id="19" name="Text 16"/>
          <p:cNvSpPr/>
          <p:nvPr/>
        </p:nvSpPr>
        <p:spPr>
          <a:xfrm>
            <a:off x="731520" y="2679192"/>
            <a:ext cx="274320" cy="457200"/>
          </a:xfrm>
          <a:prstGeom prst="rect">
            <a:avLst/>
          </a:prstGeom>
          <a:noFill/>
          <a:ln/>
        </p:spPr>
        <p:txBody>
          <a:bodyPr wrap="square" lIns="0" tIns="0" rIns="0" bIns="0" rtlCol="0" anchor="ctr">
            <a:normAutofit fontScale="70054"/>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3</a:t>
            </a:r>
            <a:endParaRPr lang="en-US" sz="1500" dirty="0"/>
          </a:p>
        </p:txBody>
      </p:sp>
      <p:sp>
        <p:nvSpPr>
          <p:cNvPr id="20" name="Text 17"/>
          <p:cNvSpPr/>
          <p:nvPr/>
        </p:nvSpPr>
        <p:spPr>
          <a:xfrm>
            <a:off x="1024128" y="2679192"/>
            <a:ext cx="3337560" cy="457200"/>
          </a:xfrm>
          <a:prstGeom prst="rect">
            <a:avLst/>
          </a:prstGeom>
          <a:noFill/>
          <a:ln/>
        </p:spPr>
        <p:txBody>
          <a:bodyPr wrap="square" lIns="0" tIns="0" rIns="0" bIns="0" rtlCol="0" anchor="ctr">
            <a:normAutofit fontScale="58358"/>
          </a:bodyPr>
          <a:lstStyle/>
          <a:p>
            <a:pPr marL="0" indent="0">
              <a:buNone/>
            </a:pPr>
            <a:r>
              <a:rPr lang="en-US" sz="1250" dirty="0">
                <a:solidFill>
                  <a:srgbClr val="1F2933"/>
                </a:solidFill>
                <a:latin typeface="Microsoft YaHei" pitchFamily="34" charset="0"/>
                <a:ea typeface="Microsoft YaHei" pitchFamily="34" charset="-122"/>
                <a:cs typeface="Microsoft YaHei" pitchFamily="34" charset="-120"/>
              </a:rPr>
              <a:t>Most experiments used only one random seed</a:t>
            </a:r>
            <a:endParaRPr lang="en-US" sz="1250" dirty="0"/>
          </a:p>
        </p:txBody>
      </p:sp>
      <p:sp>
        <p:nvSpPr>
          <p:cNvPr id="21" name="Text 18"/>
          <p:cNvSpPr/>
          <p:nvPr/>
        </p:nvSpPr>
        <p:spPr>
          <a:xfrm>
            <a:off x="731520" y="3264408"/>
            <a:ext cx="274320" cy="457200"/>
          </a:xfrm>
          <a:prstGeom prst="rect">
            <a:avLst/>
          </a:prstGeom>
          <a:noFill/>
          <a:ln/>
        </p:spPr>
        <p:txBody>
          <a:bodyPr wrap="square" lIns="0" tIns="0" rIns="0" bIns="0" rtlCol="0" anchor="ctr">
            <a:normAutofit fontScale="70054"/>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4</a:t>
            </a:r>
            <a:endParaRPr lang="en-US" sz="1500" dirty="0"/>
          </a:p>
        </p:txBody>
      </p:sp>
      <p:sp>
        <p:nvSpPr>
          <p:cNvPr id="22" name="Text 19"/>
          <p:cNvSpPr/>
          <p:nvPr/>
        </p:nvSpPr>
        <p:spPr>
          <a:xfrm>
            <a:off x="1024128" y="3264408"/>
            <a:ext cx="3337560" cy="457200"/>
          </a:xfrm>
          <a:prstGeom prst="rect">
            <a:avLst/>
          </a:prstGeom>
          <a:noFill/>
          <a:ln/>
        </p:spPr>
        <p:txBody>
          <a:bodyPr wrap="square" lIns="0" tIns="0" rIns="0" bIns="0" rtlCol="0" anchor="ctr">
            <a:normAutofit fontScale="58358"/>
          </a:bodyPr>
          <a:lstStyle/>
          <a:p>
            <a:pPr marL="0" indent="0">
              <a:buNone/>
            </a:pPr>
            <a:r>
              <a:rPr lang="en-US" sz="1250" dirty="0">
                <a:solidFill>
                  <a:srgbClr val="1F2933"/>
                </a:solidFill>
                <a:latin typeface="Microsoft YaHei" pitchFamily="34" charset="0"/>
                <a:ea typeface="Microsoft YaHei" pitchFamily="34" charset="-122"/>
                <a:cs typeface="Microsoft YaHei" pitchFamily="34" charset="-120"/>
              </a:rPr>
              <a:t>Fine-tuning of the YOLO-NAS model still needs optimization</a:t>
            </a:r>
            <a:endParaRPr lang="en-US" sz="1250" dirty="0"/>
          </a:p>
        </p:txBody>
      </p:sp>
      <p:sp>
        <p:nvSpPr>
          <p:cNvPr id="23" name="Text 20"/>
          <p:cNvSpPr/>
          <p:nvPr/>
        </p:nvSpPr>
        <p:spPr>
          <a:xfrm>
            <a:off x="731520" y="3849624"/>
            <a:ext cx="274320" cy="457200"/>
          </a:xfrm>
          <a:prstGeom prst="rect">
            <a:avLst/>
          </a:prstGeom>
          <a:noFill/>
          <a:ln/>
        </p:spPr>
        <p:txBody>
          <a:bodyPr wrap="square" lIns="0" tIns="0" rIns="0" bIns="0" rtlCol="0" anchor="ctr">
            <a:normAutofit fontScale="70054"/>
          </a:bodyPr>
          <a:lstStyle/>
          <a:p>
            <a:pPr marL="0" indent="0">
              <a:buNone/>
            </a:pPr>
            <a:r>
              <a:rPr lang="en-US" sz="1500" b="1" dirty="0">
                <a:solidFill>
                  <a:srgbClr val="D62839"/>
                </a:solidFill>
                <a:latin typeface="Microsoft YaHei" pitchFamily="34" charset="0"/>
                <a:ea typeface="Microsoft YaHei" pitchFamily="34" charset="-122"/>
                <a:cs typeface="Microsoft YaHei" pitchFamily="34" charset="-120"/>
              </a:rPr>
              <a:t>5</a:t>
            </a:r>
            <a:endParaRPr lang="en-US" sz="1500" dirty="0"/>
          </a:p>
        </p:txBody>
      </p:sp>
      <p:sp>
        <p:nvSpPr>
          <p:cNvPr id="24" name="Text 21"/>
          <p:cNvSpPr/>
          <p:nvPr/>
        </p:nvSpPr>
        <p:spPr>
          <a:xfrm>
            <a:off x="1024128" y="3849624"/>
            <a:ext cx="3337560" cy="457200"/>
          </a:xfrm>
          <a:prstGeom prst="rect">
            <a:avLst/>
          </a:prstGeom>
          <a:noFill/>
          <a:ln/>
        </p:spPr>
        <p:txBody>
          <a:bodyPr wrap="square" lIns="0" tIns="0" rIns="0" bIns="0" rtlCol="0" anchor="ctr">
            <a:normAutofit fontScale="58358"/>
          </a:bodyPr>
          <a:lstStyle/>
          <a:p>
            <a:pPr marL="0" indent="0">
              <a:buNone/>
            </a:pPr>
            <a:r>
              <a:rPr lang="en-US" sz="1250" dirty="0">
                <a:solidFill>
                  <a:srgbClr val="1F2933"/>
                </a:solidFill>
                <a:latin typeface="Microsoft YaHei" pitchFamily="34" charset="0"/>
                <a:ea typeface="Microsoft YaHei" pitchFamily="34" charset="-122"/>
                <a:cs typeface="Microsoft YaHei" pitchFamily="34" charset="-120"/>
              </a:rPr>
              <a:t>Errors not converted to millimeters; scores not compared with live results</a:t>
            </a:r>
            <a:endParaRPr lang="en-US" sz="1250" dirty="0"/>
          </a:p>
        </p:txBody>
      </p:sp>
      <p:sp>
        <p:nvSpPr>
          <p:cNvPr id="25" name="Shape 22"/>
          <p:cNvSpPr/>
          <p:nvPr/>
        </p:nvSpPr>
        <p:spPr>
          <a:xfrm>
            <a:off x="4663440" y="914400"/>
            <a:ext cx="4023360" cy="3657600"/>
          </a:xfrm>
          <a:prstGeom prst="rect">
            <a:avLst/>
          </a:prstGeom>
          <a:solidFill>
            <a:srgbClr val="FFFFFF"/>
          </a:solidFill>
          <a:ln w="9525">
            <a:solidFill>
              <a:srgbClr val="E3DCCB"/>
            </a:solidFill>
            <a:prstDash val="solid"/>
          </a:ln>
        </p:spPr>
        <p:txBody>
          <a:bodyPr/>
          <a:lstStyle/>
          <a:p>
            <a:endParaRPr lang="en-CN"/>
          </a:p>
        </p:txBody>
      </p:sp>
      <p:sp>
        <p:nvSpPr>
          <p:cNvPr id="26" name="Shape 23"/>
          <p:cNvSpPr/>
          <p:nvPr/>
        </p:nvSpPr>
        <p:spPr>
          <a:xfrm>
            <a:off x="4663440" y="914400"/>
            <a:ext cx="64008" cy="3657600"/>
          </a:xfrm>
          <a:prstGeom prst="rect">
            <a:avLst/>
          </a:prstGeom>
          <a:solidFill>
            <a:srgbClr val="1F6FB2"/>
          </a:solidFill>
          <a:ln w="9525">
            <a:solidFill>
              <a:srgbClr val="1F6FB2"/>
            </a:solidFill>
            <a:prstDash val="solid"/>
          </a:ln>
        </p:spPr>
        <p:txBody>
          <a:bodyPr/>
          <a:lstStyle/>
          <a:p>
            <a:endParaRPr lang="en-CN"/>
          </a:p>
        </p:txBody>
      </p:sp>
      <p:sp>
        <p:nvSpPr>
          <p:cNvPr id="27" name="Text 24"/>
          <p:cNvSpPr/>
          <p:nvPr/>
        </p:nvSpPr>
        <p:spPr>
          <a:xfrm>
            <a:off x="4937760" y="1024128"/>
            <a:ext cx="3566160" cy="365760"/>
          </a:xfrm>
          <a:prstGeom prst="rect">
            <a:avLst/>
          </a:prstGeom>
          <a:noFill/>
          <a:ln/>
        </p:spPr>
        <p:txBody>
          <a:bodyPr wrap="square" lIns="0" tIns="0" rIns="0" bIns="0" rtlCol="0" anchor="t"/>
          <a:lstStyle/>
          <a:p>
            <a:pPr marL="0" indent="0">
              <a:buNone/>
            </a:pPr>
            <a:r>
              <a:rPr lang="en-US" sz="1700" b="1" dirty="0">
                <a:solidFill>
                  <a:srgbClr val="1F6FB2"/>
                </a:solidFill>
                <a:latin typeface="Microsoft YaHei" pitchFamily="34" charset="0"/>
                <a:ea typeface="Microsoft YaHei" pitchFamily="34" charset="-122"/>
                <a:cs typeface="Microsoft YaHei" pitchFamily="34" charset="-120"/>
              </a:rPr>
              <a:t>Next Steps</a:t>
            </a:r>
            <a:endParaRPr lang="en-US" sz="1700" dirty="0"/>
          </a:p>
        </p:txBody>
      </p:sp>
      <p:sp>
        <p:nvSpPr>
          <p:cNvPr id="28" name="Shape 25"/>
          <p:cNvSpPr/>
          <p:nvPr/>
        </p:nvSpPr>
        <p:spPr>
          <a:xfrm>
            <a:off x="4937760" y="1508760"/>
            <a:ext cx="420624" cy="420624"/>
          </a:xfrm>
          <a:prstGeom prst="ellipse">
            <a:avLst/>
          </a:prstGeom>
          <a:solidFill>
            <a:srgbClr val="F2B705"/>
          </a:solidFill>
          <a:ln w="12700">
            <a:solidFill>
              <a:srgbClr val="F2B705"/>
            </a:solidFill>
            <a:prstDash val="solid"/>
          </a:ln>
        </p:spPr>
        <p:txBody>
          <a:bodyPr/>
          <a:lstStyle/>
          <a:p>
            <a:endParaRPr lang="en-CN"/>
          </a:p>
        </p:txBody>
      </p:sp>
      <p:sp>
        <p:nvSpPr>
          <p:cNvPr id="29" name="Text 26"/>
          <p:cNvSpPr/>
          <p:nvPr/>
        </p:nvSpPr>
        <p:spPr>
          <a:xfrm>
            <a:off x="4937760" y="1508760"/>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1</a:t>
            </a:r>
            <a:endParaRPr lang="en-US" sz="1300" dirty="0"/>
          </a:p>
        </p:txBody>
      </p:sp>
      <p:sp>
        <p:nvSpPr>
          <p:cNvPr id="30" name="Text 27"/>
          <p:cNvSpPr/>
          <p:nvPr/>
        </p:nvSpPr>
        <p:spPr>
          <a:xfrm>
            <a:off x="5486400" y="1490472"/>
            <a:ext cx="3063240" cy="292608"/>
          </a:xfrm>
          <a:prstGeom prst="rect">
            <a:avLst/>
          </a:prstGeom>
          <a:noFill/>
          <a:ln/>
        </p:spPr>
        <p:txBody>
          <a:bodyPr wrap="square" lIns="0" tIns="0" rIns="0" bIns="0" rtlCol="0" anchor="t">
            <a:normAutofit fontScale="57789"/>
          </a:bodyPr>
          <a:lstStyle/>
          <a:p>
            <a:pPr marL="0" indent="0">
              <a:buNone/>
            </a:pPr>
            <a:r>
              <a:rPr lang="en-US" sz="1350" b="1" dirty="0">
                <a:solidFill>
                  <a:srgbClr val="14213D"/>
                </a:solidFill>
                <a:latin typeface="Microsoft YaHei" pitchFamily="34" charset="0"/>
                <a:ea typeface="Microsoft YaHei" pitchFamily="34" charset="-122"/>
                <a:cs typeface="Microsoft YaHei" pitchFamily="34" charset="-120"/>
              </a:rPr>
              <a:t>Complete full-image manual annotations</a:t>
            </a:r>
            <a:endParaRPr lang="en-US" sz="1350" dirty="0"/>
          </a:p>
        </p:txBody>
      </p:sp>
      <p:sp>
        <p:nvSpPr>
          <p:cNvPr id="31" name="Text 28"/>
          <p:cNvSpPr/>
          <p:nvPr/>
        </p:nvSpPr>
        <p:spPr>
          <a:xfrm>
            <a:off x="5486400" y="1801368"/>
            <a:ext cx="3063240" cy="256032"/>
          </a:xfrm>
          <a:prstGeom prst="rect">
            <a:avLst/>
          </a:prstGeom>
          <a:noFill/>
          <a:ln/>
        </p:spPr>
        <p:txBody>
          <a:bodyPr wrap="square" lIns="0" tIns="0" rIns="0" bIns="0" rtlCol="0" anchor="t"/>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To make Precision trustworthy</a:t>
            </a:r>
            <a:endParaRPr lang="en-US" sz="1100" dirty="0"/>
          </a:p>
        </p:txBody>
      </p:sp>
      <p:sp>
        <p:nvSpPr>
          <p:cNvPr id="32" name="Shape 29"/>
          <p:cNvSpPr/>
          <p:nvPr/>
        </p:nvSpPr>
        <p:spPr>
          <a:xfrm>
            <a:off x="4937760" y="2496312"/>
            <a:ext cx="420624" cy="420624"/>
          </a:xfrm>
          <a:prstGeom prst="ellipse">
            <a:avLst/>
          </a:prstGeom>
          <a:solidFill>
            <a:srgbClr val="F2B705"/>
          </a:solidFill>
          <a:ln w="12700">
            <a:solidFill>
              <a:srgbClr val="F2B705"/>
            </a:solidFill>
            <a:prstDash val="solid"/>
          </a:ln>
        </p:spPr>
        <p:txBody>
          <a:bodyPr/>
          <a:lstStyle/>
          <a:p>
            <a:endParaRPr lang="en-CN"/>
          </a:p>
        </p:txBody>
      </p:sp>
      <p:sp>
        <p:nvSpPr>
          <p:cNvPr id="33" name="Text 30"/>
          <p:cNvSpPr/>
          <p:nvPr/>
        </p:nvSpPr>
        <p:spPr>
          <a:xfrm>
            <a:off x="4937760" y="2496312"/>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2</a:t>
            </a:r>
            <a:endParaRPr lang="en-US" sz="1300" dirty="0"/>
          </a:p>
        </p:txBody>
      </p:sp>
      <p:sp>
        <p:nvSpPr>
          <p:cNvPr id="34" name="Text 31"/>
          <p:cNvSpPr/>
          <p:nvPr/>
        </p:nvSpPr>
        <p:spPr>
          <a:xfrm>
            <a:off x="5486400" y="2478024"/>
            <a:ext cx="3063240" cy="292608"/>
          </a:xfrm>
          <a:prstGeom prst="rect">
            <a:avLst/>
          </a:prstGeom>
          <a:noFill/>
          <a:ln/>
        </p:spPr>
        <p:txBody>
          <a:bodyPr wrap="square" lIns="0" tIns="0" rIns="0" bIns="0" rtlCol="0" anchor="t">
            <a:normAutofit fontScale="57789"/>
          </a:bodyPr>
          <a:lstStyle/>
          <a:p>
            <a:pPr marL="0" indent="0">
              <a:buNone/>
            </a:pPr>
            <a:r>
              <a:rPr lang="en-US" sz="1350" b="1" dirty="0">
                <a:solidFill>
                  <a:srgbClr val="14213D"/>
                </a:solidFill>
                <a:latin typeface="Microsoft YaHei" pitchFamily="34" charset="0"/>
                <a:ea typeface="Microsoft YaHei" pitchFamily="34" charset="-122"/>
                <a:cs typeface="Microsoft YaHei" pitchFamily="34" charset="-120"/>
              </a:rPr>
              <a:t>Collect new photos by shooting session</a:t>
            </a:r>
            <a:endParaRPr lang="en-US" sz="1350" dirty="0"/>
          </a:p>
        </p:txBody>
      </p:sp>
      <p:sp>
        <p:nvSpPr>
          <p:cNvPr id="35" name="Text 32"/>
          <p:cNvSpPr/>
          <p:nvPr/>
        </p:nvSpPr>
        <p:spPr>
          <a:xfrm>
            <a:off x="5486400" y="2788920"/>
            <a:ext cx="3063240" cy="256032"/>
          </a:xfrm>
          <a:prstGeom prst="rect">
            <a:avLst/>
          </a:prstGeom>
          <a:noFill/>
          <a:ln/>
        </p:spPr>
        <p:txBody>
          <a:bodyPr wrap="square" lIns="0" tIns="0" rIns="0" bIns="0" rtlCol="0" anchor="t"/>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To build an independent test set</a:t>
            </a:r>
            <a:endParaRPr lang="en-US" sz="1100" dirty="0"/>
          </a:p>
        </p:txBody>
      </p:sp>
      <p:sp>
        <p:nvSpPr>
          <p:cNvPr id="36" name="Shape 33"/>
          <p:cNvSpPr/>
          <p:nvPr/>
        </p:nvSpPr>
        <p:spPr>
          <a:xfrm>
            <a:off x="4937760" y="3483864"/>
            <a:ext cx="420624" cy="420624"/>
          </a:xfrm>
          <a:prstGeom prst="ellipse">
            <a:avLst/>
          </a:prstGeom>
          <a:solidFill>
            <a:srgbClr val="F2B705"/>
          </a:solidFill>
          <a:ln w="12700">
            <a:solidFill>
              <a:srgbClr val="F2B705"/>
            </a:solidFill>
            <a:prstDash val="solid"/>
          </a:ln>
        </p:spPr>
        <p:txBody>
          <a:bodyPr/>
          <a:lstStyle/>
          <a:p>
            <a:endParaRPr lang="en-CN"/>
          </a:p>
        </p:txBody>
      </p:sp>
      <p:sp>
        <p:nvSpPr>
          <p:cNvPr id="37" name="Text 34"/>
          <p:cNvSpPr/>
          <p:nvPr/>
        </p:nvSpPr>
        <p:spPr>
          <a:xfrm>
            <a:off x="4937760" y="3483864"/>
            <a:ext cx="420624"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Microsoft YaHei" pitchFamily="34" charset="0"/>
                <a:ea typeface="Microsoft YaHei" pitchFamily="34" charset="-122"/>
                <a:cs typeface="Microsoft YaHei" pitchFamily="34" charset="-120"/>
              </a:rPr>
              <a:t>3</a:t>
            </a:r>
            <a:endParaRPr lang="en-US" sz="1300" dirty="0"/>
          </a:p>
        </p:txBody>
      </p:sp>
      <p:sp>
        <p:nvSpPr>
          <p:cNvPr id="38" name="Text 35"/>
          <p:cNvSpPr/>
          <p:nvPr/>
        </p:nvSpPr>
        <p:spPr>
          <a:xfrm>
            <a:off x="5486400" y="3465576"/>
            <a:ext cx="3063240" cy="292608"/>
          </a:xfrm>
          <a:prstGeom prst="rect">
            <a:avLst/>
          </a:prstGeom>
          <a:noFill/>
          <a:ln/>
        </p:spPr>
        <p:txBody>
          <a:bodyPr wrap="square" lIns="0" tIns="0" rIns="0" bIns="0" rtlCol="0" anchor="t">
            <a:normAutofit fontScale="57789"/>
          </a:bodyPr>
          <a:lstStyle/>
          <a:p>
            <a:pPr marL="0" indent="0">
              <a:buNone/>
            </a:pPr>
            <a:r>
              <a:rPr lang="en-US" sz="1350" b="1" dirty="0">
                <a:solidFill>
                  <a:srgbClr val="14213D"/>
                </a:solidFill>
                <a:latin typeface="Microsoft YaHei" pitchFamily="34" charset="0"/>
                <a:ea typeface="Microsoft YaHei" pitchFamily="34" charset="-122"/>
                <a:cs typeface="Microsoft YaHei" pitchFamily="34" charset="-120"/>
              </a:rPr>
              <a:t>Convert errors to millimeters and compare with live results</a:t>
            </a:r>
            <a:endParaRPr lang="en-US" sz="1350" dirty="0"/>
          </a:p>
        </p:txBody>
      </p:sp>
      <p:sp>
        <p:nvSpPr>
          <p:cNvPr id="39" name="Text 36"/>
          <p:cNvSpPr/>
          <p:nvPr/>
        </p:nvSpPr>
        <p:spPr>
          <a:xfrm>
            <a:off x="5486400" y="3776472"/>
            <a:ext cx="3063240" cy="256032"/>
          </a:xfrm>
          <a:prstGeom prst="rect">
            <a:avLst/>
          </a:prstGeom>
          <a:noFill/>
          <a:ln/>
        </p:spPr>
        <p:txBody>
          <a:bodyPr wrap="square" lIns="0" tIns="0" rIns="0" bIns="0" rtlCol="0" anchor="t">
            <a:normAutofit fontScale="59364"/>
          </a:bodyPr>
          <a:lstStyle/>
          <a:p>
            <a:pPr marL="0" indent="0">
              <a:buNone/>
            </a:pPr>
            <a:r>
              <a:rPr lang="en-US" sz="1100" dirty="0">
                <a:solidFill>
                  <a:srgbClr val="6B7280"/>
                </a:solidFill>
                <a:latin typeface="Microsoft YaHei" pitchFamily="34" charset="0"/>
                <a:ea typeface="Microsoft YaHei" pitchFamily="34" charset="-122"/>
                <a:cs typeface="Microsoft YaHei" pitchFamily="34" charset="-120"/>
              </a:rPr>
              <a:t>To validate the accuracy of automatic scoring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548640" y="457200"/>
            <a:ext cx="384048" cy="384048"/>
          </a:xfrm>
          <a:prstGeom prst="ellipse">
            <a:avLst/>
          </a:prstGeom>
          <a:solidFill>
            <a:srgbClr val="1F6FB2"/>
          </a:solidFill>
          <a:ln w="12700">
            <a:solidFill>
              <a:srgbClr val="1F6FB2"/>
            </a:solidFill>
            <a:prstDash val="solid"/>
          </a:ln>
        </p:spPr>
        <p:txBody>
          <a:bodyPr/>
          <a:lstStyle/>
          <a:p>
            <a:endParaRPr lang="en-CN"/>
          </a:p>
        </p:txBody>
      </p:sp>
      <p:sp>
        <p:nvSpPr>
          <p:cNvPr id="3" name="Shape 1"/>
          <p:cNvSpPr/>
          <p:nvPr/>
        </p:nvSpPr>
        <p:spPr>
          <a:xfrm>
            <a:off x="613928" y="522488"/>
            <a:ext cx="253472" cy="253472"/>
          </a:xfrm>
          <a:prstGeom prst="ellipse">
            <a:avLst/>
          </a:prstGeom>
          <a:solidFill>
            <a:srgbClr val="D62839"/>
          </a:solidFill>
          <a:ln w="12700">
            <a:solidFill>
              <a:srgbClr val="D62839"/>
            </a:solidFill>
            <a:prstDash val="solid"/>
          </a:ln>
        </p:spPr>
        <p:txBody>
          <a:bodyPr/>
          <a:lstStyle/>
          <a:p>
            <a:endParaRPr lang="en-CN"/>
          </a:p>
        </p:txBody>
      </p:sp>
      <p:sp>
        <p:nvSpPr>
          <p:cNvPr id="4" name="Shape 2"/>
          <p:cNvSpPr/>
          <p:nvPr/>
        </p:nvSpPr>
        <p:spPr>
          <a:xfrm>
            <a:off x="677296" y="585856"/>
            <a:ext cx="126736" cy="126736"/>
          </a:xfrm>
          <a:prstGeom prst="ellipse">
            <a:avLst/>
          </a:prstGeom>
          <a:solidFill>
            <a:srgbClr val="F2B705"/>
          </a:solidFill>
          <a:ln w="12700">
            <a:solidFill>
              <a:srgbClr val="F2B705"/>
            </a:solidFill>
            <a:prstDash val="solid"/>
          </a:ln>
        </p:spPr>
        <p:txBody>
          <a:bodyPr/>
          <a:lstStyle/>
          <a:p>
            <a:endParaRPr lang="en-CN"/>
          </a:p>
        </p:txBody>
      </p:sp>
      <p:sp>
        <p:nvSpPr>
          <p:cNvPr id="5" name="Text 3"/>
          <p:cNvSpPr/>
          <p:nvPr/>
        </p:nvSpPr>
        <p:spPr>
          <a:xfrm>
            <a:off x="1051560" y="411480"/>
            <a:ext cx="5486400" cy="475488"/>
          </a:xfrm>
          <a:prstGeom prst="rect">
            <a:avLst/>
          </a:prstGeom>
          <a:noFill/>
          <a:ln/>
        </p:spPr>
        <p:txBody>
          <a:bodyPr wrap="square" lIns="0" tIns="0" rIns="0" bIns="0" rtlCol="0" anchor="ctr"/>
          <a:lstStyle/>
          <a:p>
            <a:pPr marL="0" indent="0">
              <a:buNone/>
            </a:pPr>
            <a:r>
              <a:rPr lang="en-US" sz="2600" b="1" dirty="0" err="1">
                <a:solidFill>
                  <a:srgbClr val="FFFFFF"/>
                </a:solidFill>
                <a:latin typeface="Microsoft YaHei" pitchFamily="34" charset="0"/>
                <a:ea typeface="Microsoft YaHei" pitchFamily="34" charset="-122"/>
                <a:cs typeface="Microsoft YaHei" pitchFamily="34" charset="-120"/>
              </a:rPr>
              <a:t>Three Takeaways</a:t>
            </a:r>
            <a:endParaRPr lang="en-US" sz="2600" dirty="0"/>
          </a:p>
        </p:txBody>
      </p:sp>
      <p:sp>
        <p:nvSpPr>
          <p:cNvPr id="6" name="Shape 4"/>
          <p:cNvSpPr/>
          <p:nvPr/>
        </p:nvSpPr>
        <p:spPr>
          <a:xfrm>
            <a:off x="548640" y="1234440"/>
            <a:ext cx="2560320" cy="2011680"/>
          </a:xfrm>
          <a:prstGeom prst="rect">
            <a:avLst/>
          </a:prstGeom>
          <a:solidFill>
            <a:srgbClr val="1F2E50"/>
          </a:solidFill>
          <a:ln w="9525">
            <a:solidFill>
              <a:srgbClr val="1F2E50"/>
            </a:solidFill>
            <a:prstDash val="solid"/>
          </a:ln>
        </p:spPr>
        <p:txBody>
          <a:bodyPr/>
          <a:lstStyle/>
          <a:p>
            <a:endParaRPr lang="en-CN"/>
          </a:p>
        </p:txBody>
      </p:sp>
      <p:sp>
        <p:nvSpPr>
          <p:cNvPr id="7" name="Text 5"/>
          <p:cNvSpPr/>
          <p:nvPr/>
        </p:nvSpPr>
        <p:spPr>
          <a:xfrm>
            <a:off x="777240" y="1371600"/>
            <a:ext cx="1097280" cy="548640"/>
          </a:xfrm>
          <a:prstGeom prst="rect">
            <a:avLst/>
          </a:prstGeom>
          <a:noFill/>
          <a:ln/>
        </p:spPr>
        <p:txBody>
          <a:bodyPr wrap="square" lIns="0" tIns="0" rIns="0" bIns="0" rtlCol="0" anchor="t"/>
          <a:lstStyle/>
          <a:p>
            <a:pPr marL="0" indent="0">
              <a:buNone/>
            </a:pPr>
            <a:r>
              <a:rPr lang="en-US" sz="3000" b="1" dirty="0">
                <a:solidFill>
                  <a:srgbClr val="F2B705"/>
                </a:solidFill>
                <a:latin typeface="Microsoft YaHei" pitchFamily="34" charset="0"/>
                <a:ea typeface="Microsoft YaHei" pitchFamily="34" charset="-122"/>
                <a:cs typeface="Microsoft YaHei" pitchFamily="34" charset="-120"/>
              </a:rPr>
              <a:t>01</a:t>
            </a:r>
            <a:endParaRPr lang="en-US" sz="3000" dirty="0"/>
          </a:p>
        </p:txBody>
      </p:sp>
      <p:sp>
        <p:nvSpPr>
          <p:cNvPr id="8" name="Text 6"/>
          <p:cNvSpPr/>
          <p:nvPr/>
        </p:nvSpPr>
        <p:spPr>
          <a:xfrm>
            <a:off x="777240" y="2011680"/>
            <a:ext cx="2148840" cy="640080"/>
          </a:xfrm>
          <a:prstGeom prst="rect">
            <a:avLst/>
          </a:prstGeom>
          <a:noFill/>
          <a:ln/>
        </p:spPr>
        <p:txBody>
          <a:bodyPr wrap="square" lIns="0" tIns="0" rIns="0" bIns="0" rtlCol="0" anchor="t">
            <a:normAutofit fontScale="40242"/>
          </a:bodyPr>
          <a:lstStyle/>
          <a:p>
            <a:pPr marL="0" indent="0">
              <a:buNone/>
            </a:pPr>
            <a:r>
              <a:rPr lang="en-US" sz="1500" b="1" dirty="0">
                <a:solidFill>
                  <a:srgbClr val="FFFFFF"/>
                </a:solidFill>
                <a:latin typeface="Microsoft YaHei" pitchFamily="34" charset="0"/>
                <a:ea typeface="Microsoft YaHei" pitchFamily="34" charset="-122"/>
                <a:cs typeface="Microsoft YaHei" pitchFamily="34" charset="-120"/>
              </a:rPr>
              <a:t>Annotation quality determines what the model learns</a:t>
            </a:r>
            <a:endParaRPr lang="en-US" sz="1500" dirty="0"/>
          </a:p>
        </p:txBody>
      </p:sp>
      <p:sp>
        <p:nvSpPr>
          <p:cNvPr id="9" name="Text 7"/>
          <p:cNvSpPr/>
          <p:nvPr/>
        </p:nvSpPr>
        <p:spPr>
          <a:xfrm>
            <a:off x="777240" y="2651760"/>
            <a:ext cx="2148840" cy="502920"/>
          </a:xfrm>
          <a:prstGeom prst="rect">
            <a:avLst/>
          </a:prstGeom>
          <a:noFill/>
          <a:ln/>
        </p:spPr>
        <p:txBody>
          <a:bodyPr wrap="square" lIns="0" tIns="0" rIns="0" bIns="0" rtlCol="0" anchor="t">
            <a:normAutofit fontScale="42578"/>
          </a:bodyPr>
          <a:lstStyle/>
          <a:p>
            <a:pPr marL="0" indent="0">
              <a:buNone/>
            </a:pPr>
            <a:r>
              <a:rPr lang="en-US" sz="1100" dirty="0">
                <a:solidFill>
                  <a:srgbClr val="CADCFC"/>
                </a:solidFill>
                <a:latin typeface="Microsoft YaHei" pitchFamily="34" charset="0"/>
                <a:ea typeface="Microsoft YaHei" pitchFamily="34" charset="-122"/>
                <a:cs typeface="Microsoft YaHei" pitchFamily="34" charset="-120"/>
              </a:rPr>
              <a:t>If the answer is wrong, the model diligently learns the wrong thing</a:t>
            </a:r>
            <a:endParaRPr lang="en-US" sz="1100" dirty="0"/>
          </a:p>
        </p:txBody>
      </p:sp>
      <p:sp>
        <p:nvSpPr>
          <p:cNvPr id="10" name="Shape 8"/>
          <p:cNvSpPr/>
          <p:nvPr/>
        </p:nvSpPr>
        <p:spPr>
          <a:xfrm>
            <a:off x="3291840" y="1234440"/>
            <a:ext cx="2560320" cy="2011680"/>
          </a:xfrm>
          <a:prstGeom prst="rect">
            <a:avLst/>
          </a:prstGeom>
          <a:solidFill>
            <a:srgbClr val="1F2E50"/>
          </a:solidFill>
          <a:ln w="9525">
            <a:solidFill>
              <a:srgbClr val="1F2E50"/>
            </a:solidFill>
            <a:prstDash val="solid"/>
          </a:ln>
        </p:spPr>
        <p:txBody>
          <a:bodyPr/>
          <a:lstStyle/>
          <a:p>
            <a:endParaRPr lang="en-CN"/>
          </a:p>
        </p:txBody>
      </p:sp>
      <p:sp>
        <p:nvSpPr>
          <p:cNvPr id="11" name="Text 9"/>
          <p:cNvSpPr/>
          <p:nvPr/>
        </p:nvSpPr>
        <p:spPr>
          <a:xfrm>
            <a:off x="3520440" y="1371600"/>
            <a:ext cx="1097280" cy="548640"/>
          </a:xfrm>
          <a:prstGeom prst="rect">
            <a:avLst/>
          </a:prstGeom>
          <a:noFill/>
          <a:ln/>
        </p:spPr>
        <p:txBody>
          <a:bodyPr wrap="square" lIns="0" tIns="0" rIns="0" bIns="0" rtlCol="0" anchor="t"/>
          <a:lstStyle/>
          <a:p>
            <a:pPr marL="0" indent="0">
              <a:buNone/>
            </a:pPr>
            <a:r>
              <a:rPr lang="en-US" sz="3000" b="1" dirty="0">
                <a:solidFill>
                  <a:srgbClr val="F2B705"/>
                </a:solidFill>
                <a:latin typeface="Microsoft YaHei" pitchFamily="34" charset="0"/>
                <a:ea typeface="Microsoft YaHei" pitchFamily="34" charset="-122"/>
                <a:cs typeface="Microsoft YaHei" pitchFamily="34" charset="-120"/>
              </a:rPr>
              <a:t>02</a:t>
            </a:r>
            <a:endParaRPr lang="en-US" sz="3000" dirty="0"/>
          </a:p>
        </p:txBody>
      </p:sp>
      <p:sp>
        <p:nvSpPr>
          <p:cNvPr id="12" name="Text 10"/>
          <p:cNvSpPr/>
          <p:nvPr/>
        </p:nvSpPr>
        <p:spPr>
          <a:xfrm>
            <a:off x="3520440" y="2011680"/>
            <a:ext cx="2148840" cy="640080"/>
          </a:xfrm>
          <a:prstGeom prst="rect">
            <a:avLst/>
          </a:prstGeom>
          <a:noFill/>
          <a:ln/>
        </p:spPr>
        <p:txBody>
          <a:bodyPr wrap="square" lIns="0" tIns="0" rIns="0" bIns="0" rtlCol="0" anchor="t">
            <a:normAutofit fontScale="57055"/>
          </a:bodyPr>
          <a:lstStyle/>
          <a:p>
            <a:pPr marL="0" indent="0">
              <a:buNone/>
            </a:pPr>
            <a:r>
              <a:rPr lang="en-US" sz="1500" b="1" dirty="0">
                <a:solidFill>
                  <a:srgbClr val="FFFFFF"/>
                </a:solidFill>
                <a:latin typeface="Microsoft YaHei" pitchFamily="34" charset="0"/>
                <a:ea typeface="Microsoft YaHei" pitchFamily="34" charset="-122"/>
                <a:cs typeface="Microsoft YaHei" pitchFamily="34" charset="-120"/>
              </a:rPr>
              <a:t>Falling loss ≠ task completed</a:t>
            </a:r>
            <a:endParaRPr lang="en-US" sz="1500" dirty="0"/>
          </a:p>
        </p:txBody>
      </p:sp>
      <p:sp>
        <p:nvSpPr>
          <p:cNvPr id="13" name="Text 11"/>
          <p:cNvSpPr/>
          <p:nvPr/>
        </p:nvSpPr>
        <p:spPr>
          <a:xfrm>
            <a:off x="3520440" y="2651760"/>
            <a:ext cx="2148840" cy="502920"/>
          </a:xfrm>
          <a:prstGeom prst="rect">
            <a:avLst/>
          </a:prstGeom>
          <a:noFill/>
          <a:ln/>
        </p:spPr>
        <p:txBody>
          <a:bodyPr wrap="square" lIns="0" tIns="0" rIns="0" bIns="0" rtlCol="0" anchor="t">
            <a:normAutofit fontScale="42578"/>
          </a:bodyPr>
          <a:lstStyle/>
          <a:p>
            <a:pPr marL="0" indent="0">
              <a:buNone/>
            </a:pPr>
            <a:r>
              <a:rPr lang="en-US" sz="1100" dirty="0">
                <a:solidFill>
                  <a:srgbClr val="CADCFC"/>
                </a:solidFill>
                <a:latin typeface="Microsoft YaHei" pitchFamily="34" charset="0"/>
                <a:ea typeface="Microsoft YaHei" pitchFamily="34" charset="-122"/>
                <a:cs typeface="Microsoft YaHei" pitchFamily="34" charset="-120"/>
              </a:rPr>
              <a:t>Go back to the photos to check Recall, Precision, and localization error</a:t>
            </a:r>
            <a:endParaRPr lang="en-US" sz="1100" dirty="0"/>
          </a:p>
        </p:txBody>
      </p:sp>
      <p:sp>
        <p:nvSpPr>
          <p:cNvPr id="14" name="Shape 12"/>
          <p:cNvSpPr/>
          <p:nvPr/>
        </p:nvSpPr>
        <p:spPr>
          <a:xfrm>
            <a:off x="6035040" y="1234440"/>
            <a:ext cx="2560320" cy="2011680"/>
          </a:xfrm>
          <a:prstGeom prst="rect">
            <a:avLst/>
          </a:prstGeom>
          <a:solidFill>
            <a:srgbClr val="1F2E50"/>
          </a:solidFill>
          <a:ln w="9525">
            <a:solidFill>
              <a:srgbClr val="1F2E50"/>
            </a:solidFill>
            <a:prstDash val="solid"/>
          </a:ln>
        </p:spPr>
        <p:txBody>
          <a:bodyPr/>
          <a:lstStyle/>
          <a:p>
            <a:endParaRPr lang="en-CN"/>
          </a:p>
        </p:txBody>
      </p:sp>
      <p:sp>
        <p:nvSpPr>
          <p:cNvPr id="15" name="Text 13"/>
          <p:cNvSpPr/>
          <p:nvPr/>
        </p:nvSpPr>
        <p:spPr>
          <a:xfrm>
            <a:off x="6263640" y="1371600"/>
            <a:ext cx="1097280" cy="548640"/>
          </a:xfrm>
          <a:prstGeom prst="rect">
            <a:avLst/>
          </a:prstGeom>
          <a:noFill/>
          <a:ln/>
        </p:spPr>
        <p:txBody>
          <a:bodyPr wrap="square" lIns="0" tIns="0" rIns="0" bIns="0" rtlCol="0" anchor="t"/>
          <a:lstStyle/>
          <a:p>
            <a:pPr marL="0" indent="0">
              <a:buNone/>
            </a:pPr>
            <a:r>
              <a:rPr lang="en-US" sz="3000" b="1" dirty="0">
                <a:solidFill>
                  <a:srgbClr val="F2B705"/>
                </a:solidFill>
                <a:latin typeface="Microsoft YaHei" pitchFamily="34" charset="0"/>
                <a:ea typeface="Microsoft YaHei" pitchFamily="34" charset="-122"/>
                <a:cs typeface="Microsoft YaHei" pitchFamily="34" charset="-120"/>
              </a:rPr>
              <a:t>03</a:t>
            </a:r>
            <a:endParaRPr lang="en-US" sz="3000" dirty="0"/>
          </a:p>
        </p:txBody>
      </p:sp>
      <p:sp>
        <p:nvSpPr>
          <p:cNvPr id="16" name="Text 14"/>
          <p:cNvSpPr/>
          <p:nvPr/>
        </p:nvSpPr>
        <p:spPr>
          <a:xfrm>
            <a:off x="6263640" y="2011680"/>
            <a:ext cx="2148840" cy="640080"/>
          </a:xfrm>
          <a:prstGeom prst="rect">
            <a:avLst/>
          </a:prstGeom>
          <a:noFill/>
          <a:ln/>
        </p:spPr>
        <p:txBody>
          <a:bodyPr wrap="square" lIns="0" tIns="0" rIns="0" bIns="0" rtlCol="0" anchor="t">
            <a:normAutofit fontScale="53792"/>
          </a:bodyPr>
          <a:lstStyle/>
          <a:p>
            <a:pPr marL="0" indent="0">
              <a:buNone/>
            </a:pPr>
            <a:r>
              <a:rPr lang="en-US" sz="1500" b="1" dirty="0">
                <a:solidFill>
                  <a:srgbClr val="FFFFFF"/>
                </a:solidFill>
                <a:latin typeface="Microsoft YaHei" pitchFamily="34" charset="0"/>
                <a:ea typeface="Microsoft YaHei" pitchFamily="34" charset="-122"/>
                <a:cs typeface="Microsoft YaHei" pitchFamily="34" charset="-120"/>
              </a:rPr>
              <a:t>A better approach ≠ knowing why</a:t>
            </a:r>
            <a:endParaRPr lang="en-US" sz="1500" dirty="0"/>
          </a:p>
        </p:txBody>
      </p:sp>
      <p:sp>
        <p:nvSpPr>
          <p:cNvPr id="17" name="Text 15"/>
          <p:cNvSpPr/>
          <p:nvPr/>
        </p:nvSpPr>
        <p:spPr>
          <a:xfrm>
            <a:off x="6263640" y="2651760"/>
            <a:ext cx="2148840" cy="502920"/>
          </a:xfrm>
          <a:prstGeom prst="rect">
            <a:avLst/>
          </a:prstGeom>
          <a:noFill/>
          <a:ln/>
        </p:spPr>
        <p:txBody>
          <a:bodyPr wrap="square" lIns="0" tIns="0" rIns="0" bIns="0" rtlCol="0" anchor="t">
            <a:normAutofit fontScale="59364"/>
          </a:bodyPr>
          <a:lstStyle/>
          <a:p>
            <a:pPr marL="0" indent="0">
              <a:buNone/>
            </a:pPr>
            <a:r>
              <a:rPr lang="en-US" sz="1100" dirty="0">
                <a:solidFill>
                  <a:srgbClr val="CADCFC"/>
                </a:solidFill>
                <a:latin typeface="Microsoft YaHei" pitchFamily="34" charset="0"/>
                <a:ea typeface="Microsoft YaHei" pitchFamily="34" charset="-122"/>
                <a:cs typeface="Microsoft YaHei" pitchFamily="34" charset="-120"/>
              </a:rPr>
              <a:t>Proving a factor requires single-factor comparison</a:t>
            </a:r>
            <a:endParaRPr lang="en-US" sz="1100" dirty="0"/>
          </a:p>
        </p:txBody>
      </p:sp>
      <p:sp>
        <p:nvSpPr>
          <p:cNvPr id="18" name="Text 16"/>
          <p:cNvSpPr/>
          <p:nvPr/>
        </p:nvSpPr>
        <p:spPr>
          <a:xfrm>
            <a:off x="548640" y="3520440"/>
            <a:ext cx="8046720" cy="457200"/>
          </a:xfrm>
          <a:prstGeom prst="rect">
            <a:avLst/>
          </a:prstGeom>
          <a:noFill/>
          <a:ln/>
        </p:spPr>
        <p:txBody>
          <a:bodyPr wrap="square" lIns="0" tIns="0" rIns="0" bIns="0" rtlCol="0" anchor="t"/>
          <a:lstStyle/>
          <a:p>
            <a:pPr marL="0" indent="0">
              <a:buNone/>
            </a:pPr>
            <a:r>
              <a:rPr lang="en-US" sz="2000" b="1" dirty="0">
                <a:solidFill>
                  <a:srgbClr val="F2B705"/>
                </a:solidFill>
                <a:latin typeface="Microsoft YaHei" pitchFamily="34" charset="0"/>
                <a:ea typeface="Microsoft YaHei" pitchFamily="34" charset="-122"/>
                <a:cs typeface="Microsoft YaHei" pitchFamily="34" charset="-120"/>
              </a:rPr>
              <a:t>Thank you! Comments and suggestions are welcome</a:t>
            </a:r>
            <a:endParaRPr lang="en-US" sz="2000" dirty="0"/>
          </a:p>
        </p:txBody>
      </p:sp>
      <p:sp>
        <p:nvSpPr>
          <p:cNvPr id="19" name="Text 17"/>
          <p:cNvSpPr/>
          <p:nvPr/>
        </p:nvSpPr>
        <p:spPr>
          <a:xfrm>
            <a:off x="548640" y="4114800"/>
            <a:ext cx="8046720" cy="548640"/>
          </a:xfrm>
          <a:prstGeom prst="rect">
            <a:avLst/>
          </a:prstGeom>
          <a:noFill/>
          <a:ln/>
        </p:spPr>
        <p:txBody>
          <a:bodyPr wrap="square" lIns="0" tIns="0" rIns="0" bIns="0" rtlCol="0" anchor="t">
            <a:normAutofit fontScale="70937"/>
          </a:bodyPr>
          <a:lstStyle/>
          <a:p>
            <a:pPr marL="0" indent="0">
              <a:buNone/>
            </a:pPr>
            <a:r>
              <a:rPr lang="en-US" sz="950" dirty="0">
                <a:solidFill>
                  <a:srgbClr val="9CA3AF"/>
                </a:solidFill>
                <a:latin typeface="Microsoft YaHei" pitchFamily="34" charset="0"/>
                <a:ea typeface="Microsoft YaHei" pitchFamily="34" charset="-122"/>
                <a:cs typeface="Microsoft YaHei" pitchFamily="34" charset="-120"/>
              </a:rPr>
              <a:t>AI use statement: photos, manual annotations, and the first whole-arrow detection model were completed by the author; annotation review, script writing, model rebuilding, and experiment statistics were completed with AI assistance. The YOLO-NAS model was taken from the official open-source collection, for research comparison only.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3151</Words>
  <Application>Microsoft Office PowerPoint</Application>
  <PresentationFormat>全屏显示(16:9)</PresentationFormat>
  <Paragraphs>312</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基于神经网络的射箭入靶点识别与自动记分研究</dc:title>
  <dc:subject>高中研究性学习课题答辩</dc:subject>
  <dc:creator>PptxGenJS</dc:creator>
  <cp:lastModifiedBy>Howie-YeZihao (SG27)</cp:lastModifiedBy>
  <cp:revision>18</cp:revision>
  <dcterms:created xsi:type="dcterms:W3CDTF">2026-10-25T11:39:25Z</dcterms:created>
  <dcterms:modified xsi:type="dcterms:W3CDTF">2026-10-30T08:58:06Z</dcterms:modified>
</cp:coreProperties>
</file>